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5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6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7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8.xml" ContentType="application/vnd.openxmlformats-officedocument.presentationml.notesSlide+xml"/>
  <Override PartName="/ppt/charts/chart19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12"/>
  </p:notesMasterIdLst>
  <p:handoutMasterIdLst>
    <p:handoutMasterId r:id="rId13"/>
  </p:handoutMasterIdLst>
  <p:sldIdLst>
    <p:sldId id="282" r:id="rId2"/>
    <p:sldId id="342" r:id="rId3"/>
    <p:sldId id="343" r:id="rId4"/>
    <p:sldId id="345" r:id="rId5"/>
    <p:sldId id="346" r:id="rId6"/>
    <p:sldId id="347" r:id="rId7"/>
    <p:sldId id="348" r:id="rId8"/>
    <p:sldId id="349" r:id="rId9"/>
    <p:sldId id="283" r:id="rId10"/>
    <p:sldId id="340" r:id="rId11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2" autoAdjust="0"/>
    <p:restoredTop sz="96326" autoAdjust="0"/>
  </p:normalViewPr>
  <p:slideViewPr>
    <p:cSldViewPr>
      <p:cViewPr varScale="1">
        <p:scale>
          <a:sx n="109" d="100"/>
          <a:sy n="109" d="100"/>
        </p:scale>
        <p:origin x="138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'1.0' encoding='UTF-8' standalone='yes'?>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1577753943225745E-2"/>
          <c:y val="0.16986067582544326"/>
          <c:w val="0.83978773502423265"/>
          <c:h val="0.67944845435987178"/>
        </c:manualLayout>
      </c:layout>
      <c:lineChart>
        <c:grouping val="standard"/>
        <c:varyColors val="0"/>
        <c:ser>
          <c:idx val="0"/>
          <c:order val="0"/>
          <c:tx>
            <c:strRef>
              <c:f>'매출액, 영업이익'!$B$15</c:f>
              <c:strCache>
                <c:ptCount val="1"/>
                <c:pt idx="0">
                  <c:v> 25년 실적 </c:v>
                </c:pt>
              </c:strCache>
            </c:strRef>
          </c:tx>
          <c:spPr>
            <a:ln>
              <a:solidFill>
                <a:schemeClr val="bg1">
                  <a:lumMod val="65000"/>
                </a:schemeClr>
              </a:solidFill>
            </a:ln>
          </c:spPr>
          <c:marker>
            <c:symbol val="triangle"/>
            <c:size val="7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c:spPr>
          </c:marker>
          <c:cat>
            <c:strRef>
              <c:f>'매출액, 영업이익'!$E$14:$P$14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'매출액, 영업이익'!$E$15:$P$15</c:f>
              <c:numCache>
                <c:formatCode>#,###,,</c:formatCode>
                <c:ptCount val="12"/>
                <c:pt idx="0">
                  <c:v>3311478179</c:v>
                </c:pt>
                <c:pt idx="1">
                  <c:v>3791022165</c:v>
                </c:pt>
                <c:pt idx="2">
                  <c:v>3508900115</c:v>
                </c:pt>
                <c:pt idx="3">
                  <c:v>3277849979</c:v>
                </c:pt>
                <c:pt idx="4">
                  <c:v>2598372657</c:v>
                </c:pt>
                <c:pt idx="5">
                  <c:v>2740221409</c:v>
                </c:pt>
                <c:pt idx="6">
                  <c:v>3161112914</c:v>
                </c:pt>
                <c:pt idx="7">
                  <c:v>2144940622</c:v>
                </c:pt>
                <c:pt idx="8">
                  <c:v>2459671636</c:v>
                </c:pt>
                <c:pt idx="9">
                  <c:v>2580753591</c:v>
                </c:pt>
                <c:pt idx="10">
                  <c:v>2712936840</c:v>
                </c:pt>
                <c:pt idx="11">
                  <c:v>2391991639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EC-43FE-87E6-188696AE6305}"/>
            </c:ext>
          </c:extLst>
        </c:ser>
        <c:ser>
          <c:idx val="1"/>
          <c:order val="1"/>
          <c:tx>
            <c:strRef>
              <c:f>'매출액, 영업이익'!$C$17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81EC-43FE-87E6-188696AE6305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81EC-43FE-87E6-188696AE6305}"/>
              </c:ext>
            </c:extLst>
          </c:dPt>
          <c:dPt>
            <c:idx val="2"/>
            <c:marker>
              <c:symbol val="square"/>
              <c:size val="5"/>
              <c:spPr>
                <a:solidFill>
                  <a:srgbClr val="000000"/>
                </a:solidFill>
                <a:ln>
                  <a:solidFill>
                    <a:srgbClr val="000000"/>
                  </a:solidFill>
                  <a:prstDash val="solid"/>
                </a:ln>
              </c:spPr>
            </c:marker>
            <c:bubble3D val="0"/>
            <c:spPr>
              <a:ln cap="rnd">
                <a:solidFill>
                  <a:schemeClr val="tx1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4-81EC-43FE-87E6-188696AE6305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5-81EC-43FE-87E6-188696AE6305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6-81EC-43FE-87E6-188696AE6305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7-81EC-43FE-87E6-188696AE6305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8-81EC-43FE-87E6-188696AE6305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A-81EC-43FE-87E6-188696AE6305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B-81EC-43FE-87E6-188696AE6305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C-81EC-43FE-87E6-188696AE6305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D-81EC-43FE-87E6-188696AE6305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F-81EC-43FE-87E6-188696AE6305}"/>
              </c:ext>
            </c:extLst>
          </c:dPt>
          <c:cat>
            <c:strRef>
              <c:f>'매출액, 영업이익'!$E$14:$P$14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'매출액, 영업이익'!$E$17:$P$17</c:f>
              <c:numCache>
                <c:formatCode>#,###,,</c:formatCode>
                <c:ptCount val="12"/>
                <c:pt idx="0">
                  <c:v>3406662828</c:v>
                </c:pt>
                <c:pt idx="1">
                  <c:v>2841829903</c:v>
                </c:pt>
                <c:pt idx="2">
                  <c:v>3188154257</c:v>
                </c:pt>
                <c:pt idx="3">
                  <c:v>2570352740</c:v>
                </c:pt>
                <c:pt idx="4">
                  <c:v>2328987589</c:v>
                </c:pt>
                <c:pt idx="5">
                  <c:v>2518007734</c:v>
                </c:pt>
                <c:pt idx="6">
                  <c:v>2996214221</c:v>
                </c:pt>
                <c:pt idx="7">
                  <c:v>2218000000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81EC-43FE-87E6-188696AE6305}"/>
            </c:ext>
          </c:extLst>
        </c:ser>
        <c:ser>
          <c:idx val="2"/>
          <c:order val="2"/>
          <c:tx>
            <c:strRef>
              <c:f>'매출액, 영업이익'!$C$16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7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'매출액, 영업이익'!$E$14:$P$14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'매출액, 영업이익'!$E$16:$P$16</c:f>
              <c:numCache>
                <c:formatCode>#,###,,</c:formatCode>
                <c:ptCount val="12"/>
                <c:pt idx="0">
                  <c:v>3042219686</c:v>
                </c:pt>
                <c:pt idx="1">
                  <c:v>2805293179</c:v>
                </c:pt>
                <c:pt idx="2">
                  <c:v>3366725771</c:v>
                </c:pt>
                <c:pt idx="3">
                  <c:v>3345270717</c:v>
                </c:pt>
                <c:pt idx="4">
                  <c:v>3075315713</c:v>
                </c:pt>
                <c:pt idx="5">
                  <c:v>3239634133</c:v>
                </c:pt>
                <c:pt idx="6">
                  <c:v>3308520557</c:v>
                </c:pt>
                <c:pt idx="7">
                  <c:v>2422013427</c:v>
                </c:pt>
                <c:pt idx="8">
                  <c:v>2951509959</c:v>
                </c:pt>
                <c:pt idx="9">
                  <c:v>3027830318</c:v>
                </c:pt>
                <c:pt idx="10">
                  <c:v>3073277080</c:v>
                </c:pt>
                <c:pt idx="11">
                  <c:v>2342523578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81EC-43FE-87E6-188696AE63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6553728"/>
        <c:axId val="265699328"/>
      </c:lineChart>
      <c:catAx>
        <c:axId val="23655372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65699328"/>
        <c:crosses val="autoZero"/>
        <c:auto val="1"/>
        <c:lblAlgn val="ctr"/>
        <c:lblOffset val="100"/>
        <c:noMultiLvlLbl val="0"/>
      </c:catAx>
      <c:valAx>
        <c:axId val="265699328"/>
        <c:scaling>
          <c:orientation val="minMax"/>
          <c:min val="2000000000"/>
        </c:scaling>
        <c:delete val="0"/>
        <c:axPos val="l"/>
        <c:numFmt formatCode="#,###,," sourceLinked="1"/>
        <c:majorTickMark val="out"/>
        <c:minorTickMark val="none"/>
        <c:tickLblPos val="nextTo"/>
        <c:crossAx val="23655372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294788507228249E-2"/>
          <c:y val="0.19766271079927031"/>
          <c:w val="0.82804529359598011"/>
          <c:h val="0.73931848155435087"/>
        </c:manualLayout>
      </c:layout>
      <c:lineChart>
        <c:grouping val="standard"/>
        <c:varyColors val="0"/>
        <c:ser>
          <c:idx val="0"/>
          <c:order val="0"/>
          <c:tx>
            <c:strRef>
              <c:f>'매출액, 영업이익'!$C$37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'매출액, 영업이익'!$E$36:$P$36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'매출액, 영업이익'!$E$37:$P$37</c:f>
              <c:numCache>
                <c:formatCode>0.0%</c:formatCode>
                <c:ptCount val="12"/>
                <c:pt idx="0">
                  <c:v>9.2999999999999999E-2</c:v>
                </c:pt>
                <c:pt idx="1">
                  <c:v>0.126</c:v>
                </c:pt>
                <c:pt idx="2">
                  <c:v>0.11600000000000001</c:v>
                </c:pt>
                <c:pt idx="3">
                  <c:v>0.11899999999999999</c:v>
                </c:pt>
                <c:pt idx="4">
                  <c:v>6.9000000000000006E-2</c:v>
                </c:pt>
                <c:pt idx="5">
                  <c:v>6.5000000000000002E-2</c:v>
                </c:pt>
                <c:pt idx="6">
                  <c:v>9.2999999999999999E-2</c:v>
                </c:pt>
                <c:pt idx="7">
                  <c:v>4.3999999999999997E-2</c:v>
                </c:pt>
                <c:pt idx="8">
                  <c:v>3.4000000000000002E-2</c:v>
                </c:pt>
                <c:pt idx="9">
                  <c:v>6.6000000000000003E-2</c:v>
                </c:pt>
                <c:pt idx="10">
                  <c:v>8.1000000000000003E-2</c:v>
                </c:pt>
                <c:pt idx="11">
                  <c:v>-3.5000000000000003E-2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76-47C0-BFF5-25B993DEF64C}"/>
            </c:ext>
          </c:extLst>
        </c:ser>
        <c:ser>
          <c:idx val="1"/>
          <c:order val="1"/>
          <c:tx>
            <c:strRef>
              <c:f>'매출액, 영업이익'!$D$41</c:f>
              <c:strCache>
                <c:ptCount val="1"/>
                <c:pt idx="0">
                  <c:v> % </c:v>
                </c:pt>
              </c:strCache>
            </c:strRef>
          </c:tx>
          <c:spPr>
            <a:ln cmpd="sng">
              <a:solidFill>
                <a:schemeClr val="tx1"/>
              </a:solidFill>
              <a:prstDash val="solid"/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F076-47C0-BFF5-25B993DEF64C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F076-47C0-BFF5-25B993DEF64C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3-F076-47C0-BFF5-25B993DEF64C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F076-47C0-BFF5-25B993DEF64C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F076-47C0-BFF5-25B993DEF64C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F076-47C0-BFF5-25B993DEF64C}"/>
              </c:ext>
            </c:extLst>
          </c:dPt>
          <c:dPt>
            <c:idx val="7"/>
            <c:bubble3D val="0"/>
            <c:spPr>
              <a:ln cmpd="sng"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8-F076-47C0-BFF5-25B993DEF64C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9-F076-47C0-BFF5-25B993DEF64C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A-F076-47C0-BFF5-25B993DEF64C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B-F076-47C0-BFF5-25B993DEF64C}"/>
              </c:ext>
            </c:extLst>
          </c:dPt>
          <c:dPt>
            <c:idx val="11"/>
            <c:bubble3D val="0"/>
            <c:spPr>
              <a:ln cmpd="sng"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D-F076-47C0-BFF5-25B993DEF64C}"/>
              </c:ext>
            </c:extLst>
          </c:dPt>
          <c:cat>
            <c:strRef>
              <c:f>'매출액, 영업이익'!$E$36:$P$36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'매출액, 영업이익'!$E$41:$P$41</c:f>
              <c:numCache>
                <c:formatCode>0.0%</c:formatCode>
                <c:ptCount val="12"/>
                <c:pt idx="0">
                  <c:v>9.8000000000000004E-2</c:v>
                </c:pt>
                <c:pt idx="1">
                  <c:v>6.7000000000000004E-2</c:v>
                </c:pt>
                <c:pt idx="2">
                  <c:v>0.109</c:v>
                </c:pt>
                <c:pt idx="3">
                  <c:v>8.3000000000000004E-2</c:v>
                </c:pt>
                <c:pt idx="4">
                  <c:v>4.7E-2</c:v>
                </c:pt>
                <c:pt idx="5">
                  <c:v>5.2999999999999999E-2</c:v>
                </c:pt>
                <c:pt idx="6">
                  <c:v>7.3999999999999996E-2</c:v>
                </c:pt>
                <c:pt idx="7">
                  <c:v>3.2529305680793506E-2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F076-47C0-BFF5-25B993DEF64C}"/>
            </c:ext>
          </c:extLst>
        </c:ser>
        <c:ser>
          <c:idx val="2"/>
          <c:order val="2"/>
          <c:tx>
            <c:strRef>
              <c:f>'매출액, 영업이익'!$D$39</c:f>
              <c:strCache>
                <c:ptCount val="1"/>
                <c:pt idx="0">
                  <c:v> %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diamond"/>
            <c:size val="7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'매출액, 영업이익'!$E$36:$P$36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'매출액, 영업이익'!$E$39:$P$39</c:f>
              <c:numCache>
                <c:formatCode>0.0%</c:formatCode>
                <c:ptCount val="12"/>
                <c:pt idx="0">
                  <c:v>8.6999999999999994E-2</c:v>
                </c:pt>
                <c:pt idx="1">
                  <c:v>8.5000000000000006E-2</c:v>
                </c:pt>
                <c:pt idx="2">
                  <c:v>0.108</c:v>
                </c:pt>
                <c:pt idx="3">
                  <c:v>0.11700000000000001</c:v>
                </c:pt>
                <c:pt idx="4">
                  <c:v>0.107</c:v>
                </c:pt>
                <c:pt idx="5">
                  <c:v>0.109</c:v>
                </c:pt>
                <c:pt idx="6">
                  <c:v>0.109</c:v>
                </c:pt>
                <c:pt idx="7">
                  <c:v>6.7000000000000004E-2</c:v>
                </c:pt>
                <c:pt idx="8">
                  <c:v>8.5999999999999993E-2</c:v>
                </c:pt>
                <c:pt idx="9">
                  <c:v>0.104</c:v>
                </c:pt>
                <c:pt idx="10">
                  <c:v>0.10299999999999999</c:v>
                </c:pt>
                <c:pt idx="11">
                  <c:v>4.4999999999999998E-2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F076-47C0-BFF5-25B993DEF6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6555264"/>
        <c:axId val="265703360"/>
      </c:lineChart>
      <c:catAx>
        <c:axId val="23655526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65703360"/>
        <c:crosses val="autoZero"/>
        <c:auto val="1"/>
        <c:lblAlgn val="ctr"/>
        <c:lblOffset val="100"/>
        <c:noMultiLvlLbl val="0"/>
      </c:catAx>
      <c:valAx>
        <c:axId val="265703360"/>
        <c:scaling>
          <c:orientation val="minMax"/>
          <c:min val="0"/>
        </c:scaling>
        <c:delete val="0"/>
        <c:axPos val="l"/>
        <c:numFmt formatCode="0.0%" sourceLinked="1"/>
        <c:majorTickMark val="out"/>
        <c:minorTickMark val="none"/>
        <c:tickLblPos val="nextTo"/>
        <c:crossAx val="23655526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6.1771548301281502E-2"/>
          <c:y val="0.21824494806847886"/>
          <c:w val="0.85943186024395368"/>
          <c:h val="0.71637379407893176"/>
        </c:manualLayout>
      </c:layout>
      <c:lineChart>
        <c:grouping val="standard"/>
        <c:varyColors val="0"/>
        <c:ser>
          <c:idx val="1"/>
          <c:order val="0"/>
          <c:tx>
            <c:strRef>
              <c:f>Insulation!$C$16</c:f>
              <c:strCache>
                <c:ptCount val="1"/>
                <c:pt idx="0">
                  <c:v> 25년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4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Insulation!$E$15:$P$15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Insulation!$E$16:$P$16</c:f>
              <c:numCache>
                <c:formatCode>#,###,,</c:formatCode>
                <c:ptCount val="12"/>
                <c:pt idx="0">
                  <c:v>1914875312</c:v>
                </c:pt>
                <c:pt idx="1">
                  <c:v>2047686356</c:v>
                </c:pt>
                <c:pt idx="2">
                  <c:v>2038259702</c:v>
                </c:pt>
                <c:pt idx="3">
                  <c:v>1990613038</c:v>
                </c:pt>
                <c:pt idx="4">
                  <c:v>1852025820</c:v>
                </c:pt>
                <c:pt idx="5">
                  <c:v>1714863591</c:v>
                </c:pt>
                <c:pt idx="6">
                  <c:v>1997129127</c:v>
                </c:pt>
                <c:pt idx="7">
                  <c:v>1571859669</c:v>
                </c:pt>
                <c:pt idx="8">
                  <c:v>1987894784</c:v>
                </c:pt>
                <c:pt idx="9">
                  <c:v>1668532686</c:v>
                </c:pt>
                <c:pt idx="10">
                  <c:v>1885233604</c:v>
                </c:pt>
                <c:pt idx="11">
                  <c:v>1673209741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87-4061-A666-6AD81CC4DB9D}"/>
            </c:ext>
          </c:extLst>
        </c:ser>
        <c:ser>
          <c:idx val="2"/>
          <c:order val="1"/>
          <c:tx>
            <c:strRef>
              <c:f>Insulation!$D$18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0"/>
            <c:bubble3D val="0"/>
            <c:spPr>
              <a:ln>
                <a:solidFill>
                  <a:schemeClr val="tx1"/>
                </a:solidFill>
                <a:prstDash val="sysDash"/>
              </a:ln>
            </c:spPr>
            <c:extLst>
              <c:ext xmlns:c16="http://schemas.microsoft.com/office/drawing/2014/chart" uri="{C3380CC4-5D6E-409C-BE32-E72D297353CC}">
                <c16:uniqueId val="{00000002-F187-4061-A666-6AD81CC4DB9D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3-F187-4061-A666-6AD81CC4DB9D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4-F187-4061-A666-6AD81CC4DB9D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5-F187-4061-A666-6AD81CC4DB9D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6-F187-4061-A666-6AD81CC4DB9D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7-F187-4061-A666-6AD81CC4DB9D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8-F187-4061-A666-6AD81CC4DB9D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A-F187-4061-A666-6AD81CC4DB9D}"/>
              </c:ext>
            </c:extLst>
          </c:dPt>
          <c:dPt>
            <c:idx val="8"/>
            <c:marker>
              <c:symbol val="diamond"/>
              <c:size val="8"/>
            </c:marker>
            <c:bubble3D val="0"/>
            <c:extLst>
              <c:ext xmlns:c16="http://schemas.microsoft.com/office/drawing/2014/chart" uri="{C3380CC4-5D6E-409C-BE32-E72D297353CC}">
                <c16:uniqueId val="{0000000B-F187-4061-A666-6AD81CC4DB9D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C-F187-4061-A666-6AD81CC4DB9D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D-F187-4061-A666-6AD81CC4DB9D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F-F187-4061-A666-6AD81CC4DB9D}"/>
              </c:ext>
            </c:extLst>
          </c:dPt>
          <c:cat>
            <c:strRef>
              <c:f>Insulation!$E$15:$P$15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Insulation!$E$18:$P$18</c:f>
              <c:numCache>
                <c:formatCode>#,###,,</c:formatCode>
                <c:ptCount val="12"/>
                <c:pt idx="0">
                  <c:v>1989541553</c:v>
                </c:pt>
                <c:pt idx="1">
                  <c:v>1679330355</c:v>
                </c:pt>
                <c:pt idx="2">
                  <c:v>1823188415</c:v>
                </c:pt>
                <c:pt idx="3">
                  <c:v>1596999492</c:v>
                </c:pt>
                <c:pt idx="4">
                  <c:v>1623728278</c:v>
                </c:pt>
                <c:pt idx="5">
                  <c:v>1769695817</c:v>
                </c:pt>
                <c:pt idx="6">
                  <c:v>2177345156</c:v>
                </c:pt>
                <c:pt idx="7">
                  <c:v>1787000000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F187-4061-A666-6AD81CC4DB9D}"/>
            </c:ext>
          </c:extLst>
        </c:ser>
        <c:ser>
          <c:idx val="0"/>
          <c:order val="2"/>
          <c:tx>
            <c:strRef>
              <c:f>Insulation!$D$17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Insulation!$E$15:$P$15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Insulation!$E$17:$P$17</c:f>
              <c:numCache>
                <c:formatCode>#,###,,</c:formatCode>
                <c:ptCount val="12"/>
                <c:pt idx="0">
                  <c:v>2042700000</c:v>
                </c:pt>
                <c:pt idx="1">
                  <c:v>1742700000</c:v>
                </c:pt>
                <c:pt idx="2">
                  <c:v>2050700000</c:v>
                </c:pt>
                <c:pt idx="3">
                  <c:v>2144700000</c:v>
                </c:pt>
                <c:pt idx="4">
                  <c:v>1857700000</c:v>
                </c:pt>
                <c:pt idx="5">
                  <c:v>2146700000</c:v>
                </c:pt>
                <c:pt idx="6">
                  <c:v>2242700000</c:v>
                </c:pt>
                <c:pt idx="7">
                  <c:v>1511700000</c:v>
                </c:pt>
                <c:pt idx="8">
                  <c:v>1974700000</c:v>
                </c:pt>
                <c:pt idx="9">
                  <c:v>1946700000</c:v>
                </c:pt>
                <c:pt idx="10">
                  <c:v>2045700000</c:v>
                </c:pt>
                <c:pt idx="11">
                  <c:v>1647700000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F187-4061-A666-6AD81CC4DB9D}"/>
            </c:ext>
          </c:extLst>
        </c:ser>
        <c:ser>
          <c:idx val="3"/>
          <c:order val="3"/>
          <c:tx>
            <c:v> 실적(예정) </c:v>
          </c:tx>
          <c:spPr>
            <a:ln>
              <a:solidFill>
                <a:srgbClr val="000000"/>
              </a:solidFill>
              <a:prstDash val="lgDash"/>
            </a:ln>
          </c:spPr>
          <c:marker>
            <c:symbol val="diamond"/>
            <c:size val="6"/>
          </c:marker>
          <c:smooth val="0"/>
          <c:extLst>
            <c:ext xmlns:c16="http://schemas.microsoft.com/office/drawing/2014/chart" uri="{C3380CC4-5D6E-409C-BE32-E72D297353CC}">
              <c16:uniqueId val="{00000012-F187-4061-A666-6AD81CC4DB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4985856"/>
        <c:axId val="164904960"/>
      </c:lineChart>
      <c:catAx>
        <c:axId val="244985856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164904960"/>
        <c:crosses val="autoZero"/>
        <c:auto val="1"/>
        <c:lblAlgn val="ctr"/>
        <c:lblOffset val="100"/>
        <c:noMultiLvlLbl val="0"/>
      </c:catAx>
      <c:valAx>
        <c:axId val="164904960"/>
        <c:scaling>
          <c:orientation val="minMax"/>
        </c:scaling>
        <c:delete val="0"/>
        <c:axPos val="l"/>
        <c:numFmt formatCode="#,###,," sourceLinked="1"/>
        <c:majorTickMark val="none"/>
        <c:minorTickMark val="none"/>
        <c:tickLblPos val="nextTo"/>
        <c:crossAx val="24498585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779587819231574E-2"/>
          <c:y val="0.21824500508864964"/>
          <c:w val="0.87304743156414"/>
          <c:h val="0.67465908796973562"/>
        </c:manualLayout>
      </c:layout>
      <c:lineChart>
        <c:grouping val="standard"/>
        <c:varyColors val="0"/>
        <c:ser>
          <c:idx val="1"/>
          <c:order val="0"/>
          <c:tx>
            <c:strRef>
              <c:f>Insulation!$C$34</c:f>
              <c:strCache>
                <c:ptCount val="1"/>
                <c:pt idx="0">
                  <c:v> 25년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4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Insulation!$E$33:$P$33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Insulation!$E$34:$P$34</c:f>
              <c:numCache>
                <c:formatCode>0.0%</c:formatCode>
                <c:ptCount val="12"/>
                <c:pt idx="0">
                  <c:v>0.76800000000000002</c:v>
                </c:pt>
                <c:pt idx="1">
                  <c:v>0.76500000000000001</c:v>
                </c:pt>
                <c:pt idx="2">
                  <c:v>0.751</c:v>
                </c:pt>
                <c:pt idx="3">
                  <c:v>0.753</c:v>
                </c:pt>
                <c:pt idx="4">
                  <c:v>0.77200000000000002</c:v>
                </c:pt>
                <c:pt idx="5">
                  <c:v>0.77900000000000003</c:v>
                </c:pt>
                <c:pt idx="6">
                  <c:v>0.76400000000000001</c:v>
                </c:pt>
                <c:pt idx="7">
                  <c:v>0.77</c:v>
                </c:pt>
                <c:pt idx="8">
                  <c:v>0.752</c:v>
                </c:pt>
                <c:pt idx="9">
                  <c:v>0.747</c:v>
                </c:pt>
                <c:pt idx="10">
                  <c:v>0.75800000000000001</c:v>
                </c:pt>
                <c:pt idx="11">
                  <c:v>0.749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F0-4848-98BD-A50FE3080130}"/>
            </c:ext>
          </c:extLst>
        </c:ser>
        <c:ser>
          <c:idx val="2"/>
          <c:order val="1"/>
          <c:tx>
            <c:strRef>
              <c:f>Insulation!$D$36</c:f>
              <c:strCache>
                <c:ptCount val="1"/>
                <c:pt idx="0">
                  <c:v> 실적 </c:v>
                </c:pt>
              </c:strCache>
            </c:strRef>
          </c:tx>
          <c:spPr>
            <a:ln cmpd="sng"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99F0-4848-98BD-A50FE3080130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99F0-4848-98BD-A50FE3080130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3-99F0-4848-98BD-A50FE3080130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99F0-4848-98BD-A50FE3080130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99F0-4848-98BD-A50FE3080130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99F0-4848-98BD-A50FE3080130}"/>
              </c:ext>
            </c:extLst>
          </c:dPt>
          <c:dPt>
            <c:idx val="7"/>
            <c:bubble3D val="0"/>
            <c:spPr>
              <a:ln cmpd="sng"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8-99F0-4848-98BD-A50FE3080130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9-99F0-4848-98BD-A50FE3080130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A-99F0-4848-98BD-A50FE3080130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B-99F0-4848-98BD-A50FE3080130}"/>
              </c:ext>
            </c:extLst>
          </c:dPt>
          <c:dPt>
            <c:idx val="11"/>
            <c:bubble3D val="0"/>
            <c:spPr>
              <a:ln cmpd="sng"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D-99F0-4848-98BD-A50FE3080130}"/>
              </c:ext>
            </c:extLst>
          </c:dPt>
          <c:cat>
            <c:strRef>
              <c:f>Insulation!$E$33:$P$33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Insulation!$E$36:$P$36</c:f>
              <c:numCache>
                <c:formatCode>0.0%</c:formatCode>
                <c:ptCount val="12"/>
                <c:pt idx="0">
                  <c:v>0.73799999999999999</c:v>
                </c:pt>
                <c:pt idx="1">
                  <c:v>0.75900000000000001</c:v>
                </c:pt>
                <c:pt idx="2">
                  <c:v>0.73899999999999999</c:v>
                </c:pt>
                <c:pt idx="3">
                  <c:v>0.74</c:v>
                </c:pt>
                <c:pt idx="4">
                  <c:v>0.76500000000000001</c:v>
                </c:pt>
                <c:pt idx="5">
                  <c:v>0.75800000000000001</c:v>
                </c:pt>
                <c:pt idx="6">
                  <c:v>0.76700000000000002</c:v>
                </c:pt>
                <c:pt idx="7">
                  <c:v>0.76500000000000001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99F0-4848-98BD-A50FE3080130}"/>
            </c:ext>
          </c:extLst>
        </c:ser>
        <c:ser>
          <c:idx val="0"/>
          <c:order val="2"/>
          <c:tx>
            <c:strRef>
              <c:f>Insulation!$D$35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Insulation!$E$33:$P$33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Insulation!$E$35:$P$35</c:f>
              <c:numCache>
                <c:formatCode>0.0%</c:formatCode>
                <c:ptCount val="12"/>
                <c:pt idx="0">
                  <c:v>0.751</c:v>
                </c:pt>
                <c:pt idx="1">
                  <c:v>0.749</c:v>
                </c:pt>
                <c:pt idx="2">
                  <c:v>0.751</c:v>
                </c:pt>
                <c:pt idx="3">
                  <c:v>0.752</c:v>
                </c:pt>
                <c:pt idx="4">
                  <c:v>0.75</c:v>
                </c:pt>
                <c:pt idx="5">
                  <c:v>0.752</c:v>
                </c:pt>
                <c:pt idx="6">
                  <c:v>0.752</c:v>
                </c:pt>
                <c:pt idx="7">
                  <c:v>0.747</c:v>
                </c:pt>
                <c:pt idx="8">
                  <c:v>0.751</c:v>
                </c:pt>
                <c:pt idx="9">
                  <c:v>0.75</c:v>
                </c:pt>
                <c:pt idx="10">
                  <c:v>0.751</c:v>
                </c:pt>
                <c:pt idx="11">
                  <c:v>0.748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9F0-4848-98BD-A50FE30801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3707520"/>
        <c:axId val="248580928"/>
      </c:lineChart>
      <c:catAx>
        <c:axId val="273707520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48580928"/>
        <c:crosses val="autoZero"/>
        <c:auto val="1"/>
        <c:lblAlgn val="ctr"/>
        <c:lblOffset val="100"/>
        <c:noMultiLvlLbl val="0"/>
      </c:catAx>
      <c:valAx>
        <c:axId val="248580928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crossAx val="27370752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5666643033611656E-2"/>
          <c:y val="0.21824500508864964"/>
          <c:w val="0.84610654508368832"/>
          <c:h val="0.60687299801810501"/>
        </c:manualLayout>
      </c:layout>
      <c:lineChart>
        <c:grouping val="standard"/>
        <c:varyColors val="0"/>
        <c:ser>
          <c:idx val="1"/>
          <c:order val="0"/>
          <c:tx>
            <c:strRef>
              <c:f>Insulation!$D$55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7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Insulation!$F$54:$Q$54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Insulation!$F$55:$Q$55</c:f>
              <c:numCache>
                <c:formatCode>0.0%</c:formatCode>
                <c:ptCount val="12"/>
                <c:pt idx="0">
                  <c:v>6.5000000000000002E-2</c:v>
                </c:pt>
                <c:pt idx="1">
                  <c:v>7.8E-2</c:v>
                </c:pt>
                <c:pt idx="2">
                  <c:v>6.6000000000000003E-2</c:v>
                </c:pt>
                <c:pt idx="3">
                  <c:v>7.0999999999999994E-2</c:v>
                </c:pt>
                <c:pt idx="4">
                  <c:v>4.1000000000000002E-2</c:v>
                </c:pt>
                <c:pt idx="5">
                  <c:v>2.7E-2</c:v>
                </c:pt>
                <c:pt idx="6">
                  <c:v>6.5000000000000002E-2</c:v>
                </c:pt>
                <c:pt idx="7">
                  <c:v>0.01</c:v>
                </c:pt>
                <c:pt idx="8">
                  <c:v>5.7000000000000002E-2</c:v>
                </c:pt>
                <c:pt idx="9">
                  <c:v>5.0999999999999997E-2</c:v>
                </c:pt>
                <c:pt idx="10">
                  <c:v>5.7000000000000002E-2</c:v>
                </c:pt>
                <c:pt idx="11">
                  <c:v>-5.8999999999999997E-2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7B-47C0-A4CD-0B32B415D9AE}"/>
            </c:ext>
          </c:extLst>
        </c:ser>
        <c:ser>
          <c:idx val="2"/>
          <c:order val="1"/>
          <c:tx>
            <c:strRef>
              <c:f>Insulation!$D$59</c:f>
              <c:strCache>
                <c:ptCount val="1"/>
                <c:pt idx="0">
                  <c:v>실적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A47B-47C0-A4CD-0B32B415D9AE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A47B-47C0-A4CD-0B32B415D9AE}"/>
              </c:ext>
            </c:extLst>
          </c:dPt>
          <c:dPt>
            <c:idx val="3"/>
            <c:marker>
              <c:spPr>
                <a:solidFill>
                  <a:schemeClr val="tx1"/>
                </a:solidFill>
                <a:ln>
                  <a:solidFill>
                    <a:schemeClr val="tx1"/>
                  </a:solidFill>
                  <a:prstDash val="sysDot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A47B-47C0-A4CD-0B32B415D9AE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A47B-47C0-A4CD-0B32B415D9AE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A47B-47C0-A4CD-0B32B415D9AE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A47B-47C0-A4CD-0B32B415D9AE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8-A47B-47C0-A4CD-0B32B415D9AE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9-A47B-47C0-A4CD-0B32B415D9AE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A-A47B-47C0-A4CD-0B32B415D9AE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B-A47B-47C0-A4CD-0B32B415D9AE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D-A47B-47C0-A4CD-0B32B415D9AE}"/>
              </c:ext>
            </c:extLst>
          </c:dPt>
          <c:cat>
            <c:strRef>
              <c:f>Insulation!$F$54:$Q$54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Insulation!$F$59:$Q$59</c:f>
              <c:numCache>
                <c:formatCode>0.0%</c:formatCode>
                <c:ptCount val="12"/>
                <c:pt idx="0">
                  <c:v>8.4000000000000005E-2</c:v>
                </c:pt>
                <c:pt idx="1">
                  <c:v>4.2000000000000003E-2</c:v>
                </c:pt>
                <c:pt idx="2">
                  <c:v>8.2000000000000003E-2</c:v>
                </c:pt>
                <c:pt idx="3">
                  <c:v>3.9E-2</c:v>
                </c:pt>
                <c:pt idx="4">
                  <c:v>4.2999999999999997E-2</c:v>
                </c:pt>
                <c:pt idx="5">
                  <c:v>2.1999999999999999E-2</c:v>
                </c:pt>
                <c:pt idx="6">
                  <c:v>7.0000000000000007E-2</c:v>
                </c:pt>
                <c:pt idx="7">
                  <c:v>0.03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A47B-47C0-A4CD-0B32B415D9AE}"/>
            </c:ext>
          </c:extLst>
        </c:ser>
        <c:ser>
          <c:idx val="0"/>
          <c:order val="2"/>
          <c:tx>
            <c:strRef>
              <c:f>Insulation!$D$57</c:f>
              <c:strCache>
                <c:ptCount val="1"/>
                <c:pt idx="0">
                  <c:v>목표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Insulation!$F$54:$Q$54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Insulation!$F$57:$Q$57</c:f>
              <c:numCache>
                <c:formatCode>0.0%</c:formatCode>
                <c:ptCount val="12"/>
                <c:pt idx="0">
                  <c:v>6.3899999999999998E-2</c:v>
                </c:pt>
                <c:pt idx="1">
                  <c:v>5.5E-2</c:v>
                </c:pt>
                <c:pt idx="2">
                  <c:v>7.9699999999999993E-2</c:v>
                </c:pt>
                <c:pt idx="3">
                  <c:v>8.6599999999999996E-2</c:v>
                </c:pt>
                <c:pt idx="4">
                  <c:v>7.1999999999999995E-2</c:v>
                </c:pt>
                <c:pt idx="5">
                  <c:v>8.5800000000000001E-2</c:v>
                </c:pt>
                <c:pt idx="6">
                  <c:v>8.9499999999999996E-2</c:v>
                </c:pt>
                <c:pt idx="7">
                  <c:v>2.52E-2</c:v>
                </c:pt>
                <c:pt idx="8">
                  <c:v>5.8999999999999997E-2</c:v>
                </c:pt>
                <c:pt idx="9">
                  <c:v>7.9000000000000001E-2</c:v>
                </c:pt>
                <c:pt idx="10">
                  <c:v>7.9000000000000001E-2</c:v>
                </c:pt>
                <c:pt idx="11">
                  <c:v>3.9E-2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A47B-47C0-A4CD-0B32B415D9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652928"/>
        <c:axId val="277341888"/>
      </c:lineChart>
      <c:catAx>
        <c:axId val="2786529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77341888"/>
        <c:crosses val="autoZero"/>
        <c:auto val="1"/>
        <c:lblAlgn val="ctr"/>
        <c:lblOffset val="100"/>
        <c:noMultiLvlLbl val="0"/>
      </c:catAx>
      <c:valAx>
        <c:axId val="277341888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crossAx val="27865292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6.3700474654727432E-2"/>
          <c:y val="0.20936261288481808"/>
          <c:w val="0.85719638935539233"/>
          <c:h val="0.73427990292070344"/>
        </c:manualLayout>
      </c:layout>
      <c:lineChart>
        <c:grouping val="standard"/>
        <c:varyColors val="0"/>
        <c:ser>
          <c:idx val="0"/>
          <c:order val="0"/>
          <c:tx>
            <c:strRef>
              <c:f>유전체필터!$C$16</c:f>
              <c:strCache>
                <c:ptCount val="1"/>
                <c:pt idx="0">
                  <c:v> 25년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4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유전체필터!$E$15:$P$15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유전체필터!$E$16:$P$16</c:f>
              <c:numCache>
                <c:formatCode>#,###,,</c:formatCode>
                <c:ptCount val="12"/>
                <c:pt idx="0">
                  <c:v>872457843</c:v>
                </c:pt>
                <c:pt idx="1">
                  <c:v>1088979644</c:v>
                </c:pt>
                <c:pt idx="2">
                  <c:v>708063208</c:v>
                </c:pt>
                <c:pt idx="3">
                  <c:v>586246914</c:v>
                </c:pt>
                <c:pt idx="4">
                  <c:v>336518078</c:v>
                </c:pt>
                <c:pt idx="5">
                  <c:v>530704742</c:v>
                </c:pt>
                <c:pt idx="6">
                  <c:v>509064565</c:v>
                </c:pt>
                <c:pt idx="7">
                  <c:v>69724607</c:v>
                </c:pt>
                <c:pt idx="8">
                  <c:v>6467394</c:v>
                </c:pt>
                <c:pt idx="9">
                  <c:v>472683947</c:v>
                </c:pt>
                <c:pt idx="10">
                  <c:v>319077511</c:v>
                </c:pt>
                <c:pt idx="11">
                  <c:v>237982822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DF-41D7-A82D-8DBFD18D450B}"/>
            </c:ext>
          </c:extLst>
        </c:ser>
        <c:ser>
          <c:idx val="1"/>
          <c:order val="1"/>
          <c:tx>
            <c:strRef>
              <c:f>유전체필터!$D$18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6DDF-41D7-A82D-8DBFD18D450B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6DDF-41D7-A82D-8DBFD18D450B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3-6DDF-41D7-A82D-8DBFD18D450B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6DDF-41D7-A82D-8DBFD18D450B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6DDF-41D7-A82D-8DBFD18D450B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6DDF-41D7-A82D-8DBFD18D450B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8-6DDF-41D7-A82D-8DBFD18D450B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9-6DDF-41D7-A82D-8DBFD18D450B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A-6DDF-41D7-A82D-8DBFD18D450B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B-6DDF-41D7-A82D-8DBFD18D450B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D-6DDF-41D7-A82D-8DBFD18D450B}"/>
              </c:ext>
            </c:extLst>
          </c:dPt>
          <c:cat>
            <c:strRef>
              <c:f>유전체필터!$E$15:$P$15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유전체필터!$E$18:$P$18</c:f>
              <c:numCache>
                <c:formatCode>#,###,,</c:formatCode>
                <c:ptCount val="12"/>
                <c:pt idx="0">
                  <c:v>742962160</c:v>
                </c:pt>
                <c:pt idx="1">
                  <c:v>560135283</c:v>
                </c:pt>
                <c:pt idx="2">
                  <c:v>555579659</c:v>
                </c:pt>
                <c:pt idx="3">
                  <c:v>208418019</c:v>
                </c:pt>
                <c:pt idx="4">
                  <c:v>32902285</c:v>
                </c:pt>
                <c:pt idx="5">
                  <c:v>47617034</c:v>
                </c:pt>
                <c:pt idx="6">
                  <c:v>210473038</c:v>
                </c:pt>
                <c:pt idx="7">
                  <c:v>172000000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6DDF-41D7-A82D-8DBFD18D450B}"/>
            </c:ext>
          </c:extLst>
        </c:ser>
        <c:ser>
          <c:idx val="2"/>
          <c:order val="2"/>
          <c:tx>
            <c:strRef>
              <c:f>유전체필터!$D$17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square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유전체필터!$E$15:$P$15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유전체필터!$E$17:$P$17</c:f>
              <c:numCache>
                <c:formatCode>#,###,,</c:formatCode>
                <c:ptCount val="12"/>
                <c:pt idx="0">
                  <c:v>454320693</c:v>
                </c:pt>
                <c:pt idx="1">
                  <c:v>471920669</c:v>
                </c:pt>
                <c:pt idx="2">
                  <c:v>685958223</c:v>
                </c:pt>
                <c:pt idx="3">
                  <c:v>541423169</c:v>
                </c:pt>
                <c:pt idx="4">
                  <c:v>649248164</c:v>
                </c:pt>
                <c:pt idx="5">
                  <c:v>487026585</c:v>
                </c:pt>
                <c:pt idx="6">
                  <c:v>467229740</c:v>
                </c:pt>
                <c:pt idx="7">
                  <c:v>376509377</c:v>
                </c:pt>
                <c:pt idx="8">
                  <c:v>383652410</c:v>
                </c:pt>
                <c:pt idx="9">
                  <c:v>441522769</c:v>
                </c:pt>
                <c:pt idx="10">
                  <c:v>437499780</c:v>
                </c:pt>
                <c:pt idx="11">
                  <c:v>238562415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6DDF-41D7-A82D-8DBFD18D4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4987392"/>
        <c:axId val="164906688"/>
      </c:lineChart>
      <c:catAx>
        <c:axId val="244987392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164906688"/>
        <c:crosses val="autoZero"/>
        <c:auto val="1"/>
        <c:lblAlgn val="ctr"/>
        <c:lblOffset val="100"/>
        <c:noMultiLvlLbl val="0"/>
      </c:catAx>
      <c:valAx>
        <c:axId val="164906688"/>
        <c:scaling>
          <c:orientation val="minMax"/>
        </c:scaling>
        <c:delete val="0"/>
        <c:axPos val="l"/>
        <c:numFmt formatCode="#,###,," sourceLinked="1"/>
        <c:majorTickMark val="none"/>
        <c:minorTickMark val="none"/>
        <c:tickLblPos val="nextTo"/>
        <c:crossAx val="24498739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4.6015882630055856E-2"/>
          <c:y val="0.20936261288481808"/>
          <c:w val="0.87497188036857987"/>
          <c:h val="0.63899423700342539"/>
        </c:manualLayout>
      </c:layout>
      <c:lineChart>
        <c:grouping val="standard"/>
        <c:varyColors val="0"/>
        <c:ser>
          <c:idx val="0"/>
          <c:order val="0"/>
          <c:tx>
            <c:strRef>
              <c:f>유전체필터!$C$37</c:f>
              <c:strCache>
                <c:ptCount val="1"/>
                <c:pt idx="0">
                  <c:v> 25년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4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유전체필터!$E$36:$P$36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유전체필터!$E$37:$P$37</c:f>
              <c:numCache>
                <c:formatCode>0.0%</c:formatCode>
                <c:ptCount val="12"/>
                <c:pt idx="0">
                  <c:v>0.72899999999999998</c:v>
                </c:pt>
                <c:pt idx="1">
                  <c:v>0.72399999999999998</c:v>
                </c:pt>
                <c:pt idx="2">
                  <c:v>0.65900000000000003</c:v>
                </c:pt>
                <c:pt idx="3">
                  <c:v>0.67700000000000005</c:v>
                </c:pt>
                <c:pt idx="4">
                  <c:v>0.63800000000000001</c:v>
                </c:pt>
                <c:pt idx="5">
                  <c:v>0.72199999999999998</c:v>
                </c:pt>
                <c:pt idx="6">
                  <c:v>0.67800000000000005</c:v>
                </c:pt>
                <c:pt idx="7">
                  <c:v>0.63600000000000001</c:v>
                </c:pt>
                <c:pt idx="8">
                  <c:v>0.73399999999999999</c:v>
                </c:pt>
                <c:pt idx="9">
                  <c:v>0.72099999999999997</c:v>
                </c:pt>
                <c:pt idx="10">
                  <c:v>0.66300000000000003</c:v>
                </c:pt>
                <c:pt idx="11">
                  <c:v>0.70199999999999996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42-4E00-8DB6-B4505E93A9EE}"/>
            </c:ext>
          </c:extLst>
        </c:ser>
        <c:ser>
          <c:idx val="1"/>
          <c:order val="1"/>
          <c:tx>
            <c:strRef>
              <c:f>유전체필터!$D$39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F842-4E00-8DB6-B4505E93A9EE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F842-4E00-8DB6-B4505E93A9EE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3-F842-4E00-8DB6-B4505E93A9EE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F842-4E00-8DB6-B4505E93A9EE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F842-4E00-8DB6-B4505E93A9EE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F842-4E00-8DB6-B4505E93A9EE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8-F842-4E00-8DB6-B4505E93A9EE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9-F842-4E00-8DB6-B4505E93A9EE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A-F842-4E00-8DB6-B4505E93A9EE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B-F842-4E00-8DB6-B4505E93A9EE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D-F842-4E00-8DB6-B4505E93A9EE}"/>
              </c:ext>
            </c:extLst>
          </c:dPt>
          <c:cat>
            <c:strRef>
              <c:f>유전체필터!$E$36:$P$36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유전체필터!$E$39:$P$39</c:f>
              <c:numCache>
                <c:formatCode>0.0%</c:formatCode>
                <c:ptCount val="12"/>
                <c:pt idx="0">
                  <c:v>0.76100000000000001</c:v>
                </c:pt>
                <c:pt idx="1">
                  <c:v>0.73799999999999999</c:v>
                </c:pt>
                <c:pt idx="2">
                  <c:v>0.70299999999999996</c:v>
                </c:pt>
                <c:pt idx="3">
                  <c:v>0.74099999999999999</c:v>
                </c:pt>
                <c:pt idx="4">
                  <c:v>0.41599999999999998</c:v>
                </c:pt>
                <c:pt idx="5">
                  <c:v>0.58799999999999997</c:v>
                </c:pt>
                <c:pt idx="6">
                  <c:v>0.66200000000000003</c:v>
                </c:pt>
                <c:pt idx="7">
                  <c:v>0.67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F842-4E00-8DB6-B4505E93A9EE}"/>
            </c:ext>
          </c:extLst>
        </c:ser>
        <c:ser>
          <c:idx val="2"/>
          <c:order val="2"/>
          <c:tx>
            <c:strRef>
              <c:f>유전체필터!$D$38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유전체필터!$E$36:$P$36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유전체필터!$E$38:$P$38</c:f>
              <c:numCache>
                <c:formatCode>0.0%</c:formatCode>
                <c:ptCount val="12"/>
                <c:pt idx="0">
                  <c:v>0.70399999999999996</c:v>
                </c:pt>
                <c:pt idx="1">
                  <c:v>0.70299999999999996</c:v>
                </c:pt>
                <c:pt idx="2">
                  <c:v>0.68300000000000005</c:v>
                </c:pt>
                <c:pt idx="3">
                  <c:v>0.68</c:v>
                </c:pt>
                <c:pt idx="4">
                  <c:v>0.68400000000000005</c:v>
                </c:pt>
                <c:pt idx="5">
                  <c:v>0.68799999999999994</c:v>
                </c:pt>
                <c:pt idx="6">
                  <c:v>0.68300000000000005</c:v>
                </c:pt>
                <c:pt idx="7">
                  <c:v>0.67200000000000004</c:v>
                </c:pt>
                <c:pt idx="8">
                  <c:v>0.67900000000000005</c:v>
                </c:pt>
                <c:pt idx="9">
                  <c:v>0.68</c:v>
                </c:pt>
                <c:pt idx="10">
                  <c:v>0.66700000000000004</c:v>
                </c:pt>
                <c:pt idx="11">
                  <c:v>0.66300000000000003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F842-4E00-8DB6-B4505E93A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3708544"/>
        <c:axId val="248583232"/>
      </c:lineChart>
      <c:catAx>
        <c:axId val="27370854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48583232"/>
        <c:crosses val="autoZero"/>
        <c:auto val="1"/>
        <c:lblAlgn val="ctr"/>
        <c:lblOffset val="100"/>
        <c:noMultiLvlLbl val="0"/>
      </c:catAx>
      <c:valAx>
        <c:axId val="24858323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crossAx val="27370854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1807481114750433E-2"/>
          <c:y val="0.1904882679148929"/>
          <c:w val="0.86329481762476201"/>
          <c:h val="0.74905074365704283"/>
        </c:manualLayout>
      </c:layout>
      <c:lineChart>
        <c:grouping val="standard"/>
        <c:varyColors val="0"/>
        <c:ser>
          <c:idx val="0"/>
          <c:order val="0"/>
          <c:tx>
            <c:strRef>
              <c:f>유전체필터!$D$56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4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유전체필터!$F$55:$Q$55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유전체필터!$F$56:$Q$56</c:f>
              <c:numCache>
                <c:formatCode>0.0%</c:formatCode>
                <c:ptCount val="12"/>
                <c:pt idx="0">
                  <c:v>0.08</c:v>
                </c:pt>
                <c:pt idx="1">
                  <c:v>0.11</c:v>
                </c:pt>
                <c:pt idx="2">
                  <c:v>0.152</c:v>
                </c:pt>
                <c:pt idx="3">
                  <c:v>7.0999999999999994E-2</c:v>
                </c:pt>
                <c:pt idx="4">
                  <c:v>0.104</c:v>
                </c:pt>
                <c:pt idx="5">
                  <c:v>5.2999999999999999E-2</c:v>
                </c:pt>
                <c:pt idx="6">
                  <c:v>0.11600000000000001</c:v>
                </c:pt>
                <c:pt idx="7">
                  <c:v>-0.108</c:v>
                </c:pt>
                <c:pt idx="8">
                  <c:v>-9.2669999999999995</c:v>
                </c:pt>
                <c:pt idx="9">
                  <c:v>4.4999999999999998E-2</c:v>
                </c:pt>
                <c:pt idx="10">
                  <c:v>0.06</c:v>
                </c:pt>
                <c:pt idx="11">
                  <c:v>-8.8999999999999996E-2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33-429F-9CB2-E0EDBE62FE0E}"/>
            </c:ext>
          </c:extLst>
        </c:ser>
        <c:ser>
          <c:idx val="1"/>
          <c:order val="1"/>
          <c:tx>
            <c:strRef>
              <c:f>유전체필터!$D$60</c:f>
              <c:strCache>
                <c:ptCount val="1"/>
                <c:pt idx="0">
                  <c:v>실적</c:v>
                </c:pt>
              </c:strCache>
            </c:strRef>
          </c:tx>
          <c:spPr>
            <a:ln>
              <a:solidFill>
                <a:schemeClr val="tx1"/>
              </a:solidFill>
              <a:prstDash val="sysDot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4B33-429F-9CB2-E0EDBE62FE0E}"/>
              </c:ext>
            </c:extLst>
          </c:dPt>
          <c:dPt>
            <c:idx val="2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4B33-429F-9CB2-E0EDBE62FE0E}"/>
              </c:ext>
            </c:extLst>
          </c:dPt>
          <c:dPt>
            <c:idx val="3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4B33-429F-9CB2-E0EDBE62FE0E}"/>
              </c:ext>
            </c:extLst>
          </c:dPt>
          <c:dPt>
            <c:idx val="4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4B33-429F-9CB2-E0EDBE62FE0E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9-4B33-429F-9CB2-E0EDBE62FE0E}"/>
              </c:ext>
            </c:extLst>
          </c:dPt>
          <c:dPt>
            <c:idx val="6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4B33-429F-9CB2-E0EDBE62FE0E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C-4B33-429F-9CB2-E0EDBE62FE0E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D-4B33-429F-9CB2-E0EDBE62FE0E}"/>
              </c:ext>
            </c:extLst>
          </c:dPt>
          <c:dPt>
            <c:idx val="9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F-4B33-429F-9CB2-E0EDBE62FE0E}"/>
              </c:ext>
            </c:extLst>
          </c:dPt>
          <c:dPt>
            <c:idx val="10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1-4B33-429F-9CB2-E0EDBE62FE0E}"/>
              </c:ext>
            </c:extLst>
          </c:dPt>
          <c:dPt>
            <c:idx val="11"/>
            <c:bubble3D val="0"/>
            <c:extLst>
              <c:ext xmlns:c16="http://schemas.microsoft.com/office/drawing/2014/chart" uri="{C3380CC4-5D6E-409C-BE32-E72D297353CC}">
                <c16:uniqueId val="{00000012-4B33-429F-9CB2-E0EDBE62FE0E}"/>
              </c:ext>
            </c:extLst>
          </c:dPt>
          <c:cat>
            <c:strRef>
              <c:f>유전체필터!$F$55:$Q$55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유전체필터!$F$60:$Q$60</c:f>
              <c:numCache>
                <c:formatCode>0.0%</c:formatCode>
                <c:ptCount val="12"/>
                <c:pt idx="0">
                  <c:v>6.2E-2</c:v>
                </c:pt>
                <c:pt idx="1">
                  <c:v>6.9000000000000006E-2</c:v>
                </c:pt>
                <c:pt idx="2">
                  <c:v>0.13400000000000001</c:v>
                </c:pt>
                <c:pt idx="3">
                  <c:v>8.9999999999999993E-3</c:v>
                </c:pt>
                <c:pt idx="4">
                  <c:v>-0.54600000000000004</c:v>
                </c:pt>
                <c:pt idx="5">
                  <c:v>-0.37</c:v>
                </c:pt>
                <c:pt idx="6">
                  <c:v>1.2999999999999999E-2</c:v>
                </c:pt>
                <c:pt idx="7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4B33-429F-9CB2-E0EDBE62FE0E}"/>
            </c:ext>
          </c:extLst>
        </c:ser>
        <c:ser>
          <c:idx val="2"/>
          <c:order val="2"/>
          <c:tx>
            <c:strRef>
              <c:f>유전체필터!$D$58</c:f>
              <c:strCache>
                <c:ptCount val="1"/>
                <c:pt idx="0">
                  <c:v>목표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유전체필터!$F$55:$Q$55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유전체필터!$F$58:$Q$58</c:f>
              <c:numCache>
                <c:formatCode>0.0%</c:formatCode>
                <c:ptCount val="12"/>
                <c:pt idx="0">
                  <c:v>5.3900000000000003E-2</c:v>
                </c:pt>
                <c:pt idx="1">
                  <c:v>5.5399999999999998E-2</c:v>
                </c:pt>
                <c:pt idx="2">
                  <c:v>0.11</c:v>
                </c:pt>
                <c:pt idx="3">
                  <c:v>0.112</c:v>
                </c:pt>
                <c:pt idx="4">
                  <c:v>0.11700000000000001</c:v>
                </c:pt>
                <c:pt idx="5">
                  <c:v>9.0499999999999997E-2</c:v>
                </c:pt>
                <c:pt idx="6">
                  <c:v>8.4199999999999997E-2</c:v>
                </c:pt>
                <c:pt idx="7">
                  <c:v>8.2500000000000004E-2</c:v>
                </c:pt>
                <c:pt idx="8">
                  <c:v>5.7500000000000002E-2</c:v>
                </c:pt>
                <c:pt idx="9">
                  <c:v>8.4000000000000005E-2</c:v>
                </c:pt>
                <c:pt idx="10">
                  <c:v>9.4E-2</c:v>
                </c:pt>
                <c:pt idx="11">
                  <c:v>-6.8599999999999994E-2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4-4B33-429F-9CB2-E0EDBE62F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0917888"/>
        <c:axId val="236487232"/>
      </c:lineChart>
      <c:catAx>
        <c:axId val="29091788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36487232"/>
        <c:crosses val="autoZero"/>
        <c:auto val="1"/>
        <c:lblAlgn val="ctr"/>
        <c:lblOffset val="100"/>
        <c:noMultiLvlLbl val="0"/>
      </c:catAx>
      <c:valAx>
        <c:axId val="236487232"/>
        <c:scaling>
          <c:orientation val="minMax"/>
          <c:min val="0"/>
        </c:scaling>
        <c:delete val="0"/>
        <c:axPos val="l"/>
        <c:numFmt formatCode="0.0%" sourceLinked="1"/>
        <c:majorTickMark val="out"/>
        <c:minorTickMark val="none"/>
        <c:tickLblPos val="nextTo"/>
        <c:crossAx val="29091788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0428664905485374E-2"/>
          <c:y val="0.19403920468279987"/>
          <c:w val="0.83140736718188812"/>
          <c:h val="0.77281884163868908"/>
        </c:manualLayout>
      </c:layout>
      <c:lineChart>
        <c:grouping val="standard"/>
        <c:varyColors val="0"/>
        <c:ser>
          <c:idx val="0"/>
          <c:order val="0"/>
          <c:tx>
            <c:strRef>
              <c:f>탈취필터!$C$19</c:f>
              <c:strCache>
                <c:ptCount val="1"/>
                <c:pt idx="0">
                  <c:v> 25년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4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탈취필터!$E$18:$P$18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탈취필터!$E$19:$P$19</c:f>
              <c:numCache>
                <c:formatCode>#,###,,</c:formatCode>
                <c:ptCount val="12"/>
                <c:pt idx="0">
                  <c:v>250219070</c:v>
                </c:pt>
                <c:pt idx="1">
                  <c:v>324030070</c:v>
                </c:pt>
                <c:pt idx="2">
                  <c:v>325635940</c:v>
                </c:pt>
                <c:pt idx="3">
                  <c:v>450638570</c:v>
                </c:pt>
                <c:pt idx="4">
                  <c:v>126938000</c:v>
                </c:pt>
                <c:pt idx="5">
                  <c:v>143927640</c:v>
                </c:pt>
                <c:pt idx="6">
                  <c:v>143682000</c:v>
                </c:pt>
                <c:pt idx="7">
                  <c:v>174977070</c:v>
                </c:pt>
                <c:pt idx="8">
                  <c:v>146905640</c:v>
                </c:pt>
                <c:pt idx="9">
                  <c:v>177374820</c:v>
                </c:pt>
                <c:pt idx="10">
                  <c:v>247448450</c:v>
                </c:pt>
                <c:pt idx="11">
                  <c:v>156495000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97-4987-99E3-C003F5CA5920}"/>
            </c:ext>
          </c:extLst>
        </c:ser>
        <c:ser>
          <c:idx val="1"/>
          <c:order val="1"/>
          <c:tx>
            <c:strRef>
              <c:f>탈취필터!$D$21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ED97-4987-99E3-C003F5CA5920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ED97-4987-99E3-C003F5CA5920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3-ED97-4987-99E3-C003F5CA5920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ED97-4987-99E3-C003F5CA5920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ED97-4987-99E3-C003F5CA5920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ED97-4987-99E3-C003F5CA5920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8-ED97-4987-99E3-C003F5CA5920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9-ED97-4987-99E3-C003F5CA5920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A-ED97-4987-99E3-C003F5CA5920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B-ED97-4987-99E3-C003F5CA5920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D-ED97-4987-99E3-C003F5CA5920}"/>
              </c:ext>
            </c:extLst>
          </c:dPt>
          <c:cat>
            <c:strRef>
              <c:f>탈취필터!$E$18:$P$18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탈취필터!$E$21:$P$21</c:f>
              <c:numCache>
                <c:formatCode>#,###,,</c:formatCode>
                <c:ptCount val="12"/>
                <c:pt idx="0">
                  <c:v>182473570</c:v>
                </c:pt>
                <c:pt idx="1">
                  <c:v>220759200</c:v>
                </c:pt>
                <c:pt idx="2">
                  <c:v>333669070</c:v>
                </c:pt>
                <c:pt idx="3">
                  <c:v>400881570</c:v>
                </c:pt>
                <c:pt idx="4">
                  <c:v>166165320</c:v>
                </c:pt>
                <c:pt idx="5">
                  <c:v>149936570</c:v>
                </c:pt>
                <c:pt idx="6">
                  <c:v>152941780</c:v>
                </c:pt>
                <c:pt idx="7">
                  <c:v>129000000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ED97-4987-99E3-C003F5CA5920}"/>
            </c:ext>
          </c:extLst>
        </c:ser>
        <c:ser>
          <c:idx val="2"/>
          <c:order val="2"/>
          <c:tx>
            <c:strRef>
              <c:f>탈취필터!$D$20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square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탈취필터!$E$18:$P$18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탈취필터!$E$20:$P$20</c:f>
              <c:numCache>
                <c:formatCode>#,###,,</c:formatCode>
                <c:ptCount val="12"/>
                <c:pt idx="0">
                  <c:v>264115000</c:v>
                </c:pt>
                <c:pt idx="1">
                  <c:v>275170000</c:v>
                </c:pt>
                <c:pt idx="2">
                  <c:v>277415000</c:v>
                </c:pt>
                <c:pt idx="3">
                  <c:v>306495000</c:v>
                </c:pt>
                <c:pt idx="4">
                  <c:v>215715000</c:v>
                </c:pt>
                <c:pt idx="5">
                  <c:v>253255000</c:v>
                </c:pt>
                <c:pt idx="6">
                  <c:v>235285000</c:v>
                </c:pt>
                <c:pt idx="7">
                  <c:v>196995000</c:v>
                </c:pt>
                <c:pt idx="8">
                  <c:v>240505000</c:v>
                </c:pt>
                <c:pt idx="9">
                  <c:v>286955000</c:v>
                </c:pt>
                <c:pt idx="10">
                  <c:v>261190000</c:v>
                </c:pt>
                <c:pt idx="11">
                  <c:v>194025000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ED97-4987-99E3-C003F5CA59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4988416"/>
        <c:axId val="164912448"/>
      </c:lineChart>
      <c:catAx>
        <c:axId val="24498841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64912448"/>
        <c:crosses val="autoZero"/>
        <c:auto val="1"/>
        <c:lblAlgn val="ctr"/>
        <c:lblOffset val="100"/>
        <c:noMultiLvlLbl val="0"/>
      </c:catAx>
      <c:valAx>
        <c:axId val="164912448"/>
        <c:scaling>
          <c:orientation val="minMax"/>
        </c:scaling>
        <c:delete val="0"/>
        <c:axPos val="l"/>
        <c:numFmt formatCode="#,###,," sourceLinked="1"/>
        <c:majorTickMark val="out"/>
        <c:minorTickMark val="none"/>
        <c:tickLblPos val="nextTo"/>
        <c:crossAx val="24498841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874066617938544E-2"/>
          <c:y val="0.22250695856051292"/>
          <c:w val="0.83075693791454519"/>
          <c:h val="0.63899423700342539"/>
        </c:manualLayout>
      </c:layout>
      <c:lineChart>
        <c:grouping val="standard"/>
        <c:varyColors val="0"/>
        <c:ser>
          <c:idx val="0"/>
          <c:order val="0"/>
          <c:tx>
            <c:strRef>
              <c:f>탈취필터!$D$70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4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dPt>
            <c:idx val="0"/>
            <c:bubble3D val="0"/>
            <c:spPr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1-8881-4D7A-A0DA-CC0D24BFCA21}"/>
              </c:ext>
            </c:extLst>
          </c:dPt>
          <c:cat>
            <c:strRef>
              <c:f>탈취필터!$F$69:$Q$69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탈취필터!$F$70:$Q$70</c:f>
              <c:numCache>
                <c:formatCode>0.0%</c:formatCode>
                <c:ptCount val="12"/>
                <c:pt idx="0">
                  <c:v>0.27800000000000002</c:v>
                </c:pt>
                <c:pt idx="1">
                  <c:v>0.313</c:v>
                </c:pt>
                <c:pt idx="2">
                  <c:v>0.247</c:v>
                </c:pt>
                <c:pt idx="3">
                  <c:v>0.33500000000000002</c:v>
                </c:pt>
                <c:pt idx="4">
                  <c:v>0.19900000000000001</c:v>
                </c:pt>
                <c:pt idx="5">
                  <c:v>0.28699999999999998</c:v>
                </c:pt>
                <c:pt idx="6">
                  <c:v>0.17499999999999999</c:v>
                </c:pt>
                <c:pt idx="7">
                  <c:v>0.216</c:v>
                </c:pt>
                <c:pt idx="8">
                  <c:v>4.5999999999999999E-2</c:v>
                </c:pt>
                <c:pt idx="9">
                  <c:v>0.18</c:v>
                </c:pt>
                <c:pt idx="10">
                  <c:v>0.23100000000000001</c:v>
                </c:pt>
                <c:pt idx="11">
                  <c:v>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881-4D7A-A0DA-CC0D24BFCA21}"/>
            </c:ext>
          </c:extLst>
        </c:ser>
        <c:ser>
          <c:idx val="2"/>
          <c:order val="1"/>
          <c:tx>
            <c:strRef>
              <c:f>탈취필터!$D$74</c:f>
              <c:strCache>
                <c:ptCount val="1"/>
                <c:pt idx="0">
                  <c:v>실적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solidFill>
                  <a:sysClr val="windowText" lastClr="000000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3-8881-4D7A-A0DA-CC0D24BFCA21}"/>
              </c:ext>
            </c:extLst>
          </c:dPt>
          <c:dPt>
            <c:idx val="2"/>
            <c:marker>
              <c:spPr>
                <a:solidFill>
                  <a:schemeClr val="tx1"/>
                </a:solidFill>
                <a:ln>
                  <a:solidFill>
                    <a:sysClr val="windowText" lastClr="000000"/>
                  </a:solidFill>
                  <a:prstDash val="sysDot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8881-4D7A-A0DA-CC0D24BFCA21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5-8881-4D7A-A0DA-CC0D24BFCA21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6-8881-4D7A-A0DA-CC0D24BFCA21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7-8881-4D7A-A0DA-CC0D24BFCA21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8-8881-4D7A-A0DA-CC0D24BFCA21}"/>
              </c:ext>
            </c:extLst>
          </c:dPt>
          <c:dPt>
            <c:idx val="7"/>
            <c:bubble3D val="0"/>
            <c:spPr>
              <a:ln>
                <a:solidFill>
                  <a:sysClr val="windowText" lastClr="000000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A-8881-4D7A-A0DA-CC0D24BFCA21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B-8881-4D7A-A0DA-CC0D24BFCA21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C-8881-4D7A-A0DA-CC0D24BFCA21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D-8881-4D7A-A0DA-CC0D24BFCA21}"/>
              </c:ext>
            </c:extLst>
          </c:dPt>
          <c:dPt>
            <c:idx val="11"/>
            <c:bubble3D val="0"/>
            <c:spPr>
              <a:ln>
                <a:solidFill>
                  <a:sysClr val="windowText" lastClr="000000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F-8881-4D7A-A0DA-CC0D24BFCA21}"/>
              </c:ext>
            </c:extLst>
          </c:dPt>
          <c:cat>
            <c:strRef>
              <c:f>탈취필터!$F$69:$Q$69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탈취필터!$F$74:$Q$74</c:f>
              <c:numCache>
                <c:formatCode>0.0%</c:formatCode>
                <c:ptCount val="12"/>
                <c:pt idx="0">
                  <c:v>0.26900000000000002</c:v>
                </c:pt>
                <c:pt idx="1">
                  <c:v>0.186</c:v>
                </c:pt>
                <c:pt idx="2">
                  <c:v>0.14399999999999999</c:v>
                </c:pt>
                <c:pt idx="3">
                  <c:v>0.27200000000000002</c:v>
                </c:pt>
                <c:pt idx="4">
                  <c:v>0.11600000000000001</c:v>
                </c:pt>
                <c:pt idx="5">
                  <c:v>0.125</c:v>
                </c:pt>
                <c:pt idx="6">
                  <c:v>0.127</c:v>
                </c:pt>
                <c:pt idx="7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8881-4D7A-A0DA-CC0D24BFCA21}"/>
            </c:ext>
          </c:extLst>
        </c:ser>
        <c:ser>
          <c:idx val="1"/>
          <c:order val="2"/>
          <c:tx>
            <c:strRef>
              <c:f>탈취필터!$D$72</c:f>
              <c:strCache>
                <c:ptCount val="1"/>
                <c:pt idx="0">
                  <c:v>목표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square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탈취필터!$F$69:$Q$69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탈취필터!$F$72:$Q$72</c:f>
              <c:numCache>
                <c:formatCode>0.0%</c:formatCode>
                <c:ptCount val="12"/>
                <c:pt idx="0">
                  <c:v>0.29420000000000002</c:v>
                </c:pt>
                <c:pt idx="1">
                  <c:v>0.29899999999999999</c:v>
                </c:pt>
                <c:pt idx="2">
                  <c:v>0.27900000000000003</c:v>
                </c:pt>
                <c:pt idx="3">
                  <c:v>0.31900000000000001</c:v>
                </c:pt>
                <c:pt idx="4">
                  <c:v>0.32</c:v>
                </c:pt>
                <c:pt idx="5">
                  <c:v>0.30199999999999999</c:v>
                </c:pt>
                <c:pt idx="6">
                  <c:v>0.312</c:v>
                </c:pt>
                <c:pt idx="7">
                  <c:v>0.25900000000000001</c:v>
                </c:pt>
                <c:pt idx="8">
                  <c:v>0.28699999999999998</c:v>
                </c:pt>
                <c:pt idx="9">
                  <c:v>0.30380000000000001</c:v>
                </c:pt>
                <c:pt idx="10">
                  <c:v>0.30399999999999999</c:v>
                </c:pt>
                <c:pt idx="11">
                  <c:v>0.219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8881-4D7A-A0DA-CC0D24BFCA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651904"/>
        <c:axId val="236490688"/>
      </c:lineChart>
      <c:catAx>
        <c:axId val="27865190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36490688"/>
        <c:crosses val="autoZero"/>
        <c:auto val="1"/>
        <c:lblAlgn val="ctr"/>
        <c:lblOffset val="100"/>
        <c:noMultiLvlLbl val="0"/>
      </c:catAx>
      <c:valAx>
        <c:axId val="236490688"/>
        <c:scaling>
          <c:orientation val="minMax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crossAx val="27865190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6.2996809925347064E-2"/>
          <c:y val="0.19836309444465181"/>
          <c:w val="0.86231602913604233"/>
          <c:h val="0.77190458671245021"/>
        </c:manualLayout>
      </c:layout>
      <c:lineChart>
        <c:grouping val="standard"/>
        <c:varyColors val="0"/>
        <c:ser>
          <c:idx val="0"/>
          <c:order val="0"/>
          <c:tx>
            <c:strRef>
              <c:f>탈취필터!$C$43</c:f>
              <c:strCache>
                <c:ptCount val="1"/>
                <c:pt idx="0">
                  <c:v> 25년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7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탈취필터!$E$42:$P$42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탈취필터!$E$43:$P$43</c:f>
              <c:numCache>
                <c:formatCode>0.0%</c:formatCode>
                <c:ptCount val="12"/>
                <c:pt idx="0">
                  <c:v>0.55200000000000005</c:v>
                </c:pt>
                <c:pt idx="1">
                  <c:v>0.53400000000000003</c:v>
                </c:pt>
                <c:pt idx="2">
                  <c:v>0.57499999999999996</c:v>
                </c:pt>
                <c:pt idx="3">
                  <c:v>0.52200000000000002</c:v>
                </c:pt>
                <c:pt idx="4">
                  <c:v>0.49299999999999999</c:v>
                </c:pt>
                <c:pt idx="5">
                  <c:v>0.47599999999999998</c:v>
                </c:pt>
                <c:pt idx="6">
                  <c:v>0.57099999999999995</c:v>
                </c:pt>
                <c:pt idx="7">
                  <c:v>0.53900000000000003</c:v>
                </c:pt>
                <c:pt idx="8">
                  <c:v>0.62</c:v>
                </c:pt>
                <c:pt idx="9">
                  <c:v>0.56299999999999994</c:v>
                </c:pt>
                <c:pt idx="10">
                  <c:v>0.57699999999999996</c:v>
                </c:pt>
                <c:pt idx="11">
                  <c:v>0.51900000000000002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73-479C-B4BF-87250AF129C8}"/>
            </c:ext>
          </c:extLst>
        </c:ser>
        <c:ser>
          <c:idx val="1"/>
          <c:order val="1"/>
          <c:tx>
            <c:strRef>
              <c:f>탈취필터!$D$45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8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9573-479C-B4BF-87250AF129C8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9573-479C-B4BF-87250AF129C8}"/>
              </c:ext>
            </c:extLst>
          </c:dPt>
          <c:dPt>
            <c:idx val="2"/>
            <c:marker>
              <c:symbol val="diamond"/>
              <c:size val="4"/>
              <c:spPr>
                <a:solidFill>
                  <a:schemeClr val="tx1"/>
                </a:solidFill>
                <a:ln>
                  <a:solidFill>
                    <a:schemeClr val="tx1"/>
                  </a:solidFill>
                  <a:prstDash val="sysDot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9573-479C-B4BF-87250AF129C8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4-9573-479C-B4BF-87250AF129C8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5-9573-479C-B4BF-87250AF129C8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6-9573-479C-B4BF-87250AF129C8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7-9573-479C-B4BF-87250AF129C8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9-9573-479C-B4BF-87250AF129C8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A-9573-479C-B4BF-87250AF129C8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B-9573-479C-B4BF-87250AF129C8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C-9573-479C-B4BF-87250AF129C8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E-9573-479C-B4BF-87250AF129C8}"/>
              </c:ext>
            </c:extLst>
          </c:dPt>
          <c:cat>
            <c:strRef>
              <c:f>탈취필터!$E$42:$P$42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탈취필터!$E$45:$P$45</c:f>
              <c:numCache>
                <c:formatCode>0.0%</c:formatCode>
                <c:ptCount val="12"/>
                <c:pt idx="0">
                  <c:v>0.54100000000000004</c:v>
                </c:pt>
                <c:pt idx="1">
                  <c:v>0.65700000000000003</c:v>
                </c:pt>
                <c:pt idx="2">
                  <c:v>0.68799999999999994</c:v>
                </c:pt>
                <c:pt idx="3">
                  <c:v>0.60599999999999998</c:v>
                </c:pt>
                <c:pt idx="4">
                  <c:v>0.63900000000000001</c:v>
                </c:pt>
                <c:pt idx="5">
                  <c:v>0.626</c:v>
                </c:pt>
                <c:pt idx="6">
                  <c:v>0.62</c:v>
                </c:pt>
                <c:pt idx="7">
                  <c:v>0.65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573-479C-B4BF-87250AF129C8}"/>
            </c:ext>
          </c:extLst>
        </c:ser>
        <c:ser>
          <c:idx val="2"/>
          <c:order val="2"/>
          <c:tx>
            <c:strRef>
              <c:f>탈취필터!$D$44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탈취필터!$E$42:$P$42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탈취필터!$E$44:$P$44</c:f>
              <c:numCache>
                <c:formatCode>0.0%</c:formatCode>
                <c:ptCount val="12"/>
                <c:pt idx="0">
                  <c:v>0.53300000000000003</c:v>
                </c:pt>
                <c:pt idx="1">
                  <c:v>0.53600000000000003</c:v>
                </c:pt>
                <c:pt idx="2">
                  <c:v>0.51300000000000001</c:v>
                </c:pt>
                <c:pt idx="3">
                  <c:v>0.52100000000000002</c:v>
                </c:pt>
                <c:pt idx="4">
                  <c:v>0.49299999999999999</c:v>
                </c:pt>
                <c:pt idx="5">
                  <c:v>0.51900000000000002</c:v>
                </c:pt>
                <c:pt idx="6">
                  <c:v>0.498</c:v>
                </c:pt>
                <c:pt idx="7">
                  <c:v>0.51800000000000002</c:v>
                </c:pt>
                <c:pt idx="8">
                  <c:v>0.52400000000000002</c:v>
                </c:pt>
                <c:pt idx="9">
                  <c:v>0.52400000000000002</c:v>
                </c:pt>
                <c:pt idx="10">
                  <c:v>0.51100000000000001</c:v>
                </c:pt>
                <c:pt idx="11">
                  <c:v>0.53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9573-479C-B4BF-87250AF12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3709056"/>
        <c:axId val="248585536"/>
      </c:lineChart>
      <c:catAx>
        <c:axId val="273709056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48585536"/>
        <c:crossesAt val="50"/>
        <c:auto val="1"/>
        <c:lblAlgn val="ctr"/>
        <c:lblOffset val="100"/>
        <c:noMultiLvlLbl val="0"/>
      </c:catAx>
      <c:valAx>
        <c:axId val="248585536"/>
        <c:scaling>
          <c:orientation val="minMax"/>
          <c:min val="0.35000000000000003"/>
        </c:scaling>
        <c:delete val="0"/>
        <c:axPos val="l"/>
        <c:numFmt formatCode="0.0%" sourceLinked="1"/>
        <c:majorTickMark val="none"/>
        <c:minorTickMark val="none"/>
        <c:tickLblPos val="nextTo"/>
        <c:crossAx val="27370905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312965360733977E-2"/>
          <c:y val="0.13771141119763999"/>
          <c:w val="0.83331188332914696"/>
          <c:h val="0.74905074365704283"/>
        </c:manualLayout>
      </c:layout>
      <c:lineChart>
        <c:grouping val="standard"/>
        <c:varyColors val="0"/>
        <c:ser>
          <c:idx val="0"/>
          <c:order val="0"/>
          <c:tx>
            <c:strRef>
              <c:f>밀레니얼!$C$15</c:f>
              <c:strCache>
                <c:ptCount val="1"/>
                <c:pt idx="0">
                  <c:v> 25년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pPr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밀레니얼!$E$14:$P$14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밀레니얼!$E$15:$P$15</c:f>
              <c:numCache>
                <c:formatCode>#,###,,</c:formatCode>
                <c:ptCount val="12"/>
                <c:pt idx="0">
                  <c:v>273925954</c:v>
                </c:pt>
                <c:pt idx="1">
                  <c:v>330326095</c:v>
                </c:pt>
                <c:pt idx="2">
                  <c:v>436941265</c:v>
                </c:pt>
                <c:pt idx="3">
                  <c:v>250351457</c:v>
                </c:pt>
                <c:pt idx="4">
                  <c:v>282890759</c:v>
                </c:pt>
                <c:pt idx="5">
                  <c:v>350725436</c:v>
                </c:pt>
                <c:pt idx="6">
                  <c:v>511237222</c:v>
                </c:pt>
                <c:pt idx="7">
                  <c:v>328379276</c:v>
                </c:pt>
                <c:pt idx="8">
                  <c:v>318403818</c:v>
                </c:pt>
                <c:pt idx="9">
                  <c:v>262162138</c:v>
                </c:pt>
                <c:pt idx="10">
                  <c:v>261177275</c:v>
                </c:pt>
                <c:pt idx="11">
                  <c:v>324304076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82-43D1-A3EE-8022291641BE}"/>
            </c:ext>
          </c:extLst>
        </c:ser>
        <c:ser>
          <c:idx val="1"/>
          <c:order val="1"/>
          <c:tx>
            <c:strRef>
              <c:f>밀레니얼!$D$17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B282-43D1-A3EE-8022291641BE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B282-43D1-A3EE-8022291641BE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3-B282-43D1-A3EE-8022291641BE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4-B282-43D1-A3EE-8022291641BE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5-B282-43D1-A3EE-8022291641BE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6-B282-43D1-A3EE-8022291641BE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7-B282-43D1-A3EE-8022291641BE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9-B282-43D1-A3EE-8022291641BE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A-B282-43D1-A3EE-8022291641BE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B-B282-43D1-A3EE-8022291641BE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C-B282-43D1-A3EE-8022291641BE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E-B282-43D1-A3EE-8022291641BE}"/>
              </c:ext>
            </c:extLst>
          </c:dPt>
          <c:cat>
            <c:strRef>
              <c:f>밀레니얼!$E$14:$P$14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밀레니얼!$E$17:$P$17</c:f>
              <c:numCache>
                <c:formatCode>#,###,,</c:formatCode>
                <c:ptCount val="12"/>
                <c:pt idx="0">
                  <c:v>491685545</c:v>
                </c:pt>
                <c:pt idx="1">
                  <c:v>381605065</c:v>
                </c:pt>
                <c:pt idx="2">
                  <c:v>475717113</c:v>
                </c:pt>
                <c:pt idx="3">
                  <c:v>364053659</c:v>
                </c:pt>
                <c:pt idx="4">
                  <c:v>506191706</c:v>
                </c:pt>
                <c:pt idx="5">
                  <c:v>550758313</c:v>
                </c:pt>
                <c:pt idx="6">
                  <c:v>455454247</c:v>
                </c:pt>
                <c:pt idx="7">
                  <c:v>130000000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B282-43D1-A3EE-8022291641BE}"/>
            </c:ext>
          </c:extLst>
        </c:ser>
        <c:ser>
          <c:idx val="2"/>
          <c:order val="2"/>
          <c:tx>
            <c:strRef>
              <c:f>밀레니얼!$D$16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밀레니얼!$E$14:$P$14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밀레니얼!$E$16:$P$16</c:f>
              <c:numCache>
                <c:formatCode>#,###,,</c:formatCode>
                <c:ptCount val="12"/>
                <c:pt idx="0">
                  <c:v>281083992</c:v>
                </c:pt>
                <c:pt idx="1">
                  <c:v>315502510</c:v>
                </c:pt>
                <c:pt idx="2">
                  <c:v>352652548</c:v>
                </c:pt>
                <c:pt idx="3">
                  <c:v>352652548</c:v>
                </c:pt>
                <c:pt idx="4">
                  <c:v>352652548</c:v>
                </c:pt>
                <c:pt idx="5">
                  <c:v>352652548</c:v>
                </c:pt>
                <c:pt idx="6">
                  <c:v>363305817</c:v>
                </c:pt>
                <c:pt idx="7">
                  <c:v>336809049</c:v>
                </c:pt>
                <c:pt idx="8">
                  <c:v>352652548</c:v>
                </c:pt>
                <c:pt idx="9">
                  <c:v>352652548</c:v>
                </c:pt>
                <c:pt idx="10">
                  <c:v>328887299</c:v>
                </c:pt>
                <c:pt idx="11">
                  <c:v>262236163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B282-43D1-A3EE-8022291641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4987904"/>
        <c:axId val="164909568"/>
      </c:lineChart>
      <c:catAx>
        <c:axId val="24498790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64909568"/>
        <c:crosses val="autoZero"/>
        <c:auto val="1"/>
        <c:lblAlgn val="ctr"/>
        <c:lblOffset val="100"/>
        <c:noMultiLvlLbl val="0"/>
      </c:catAx>
      <c:valAx>
        <c:axId val="164909568"/>
        <c:scaling>
          <c:orientation val="minMax"/>
        </c:scaling>
        <c:delete val="0"/>
        <c:axPos val="l"/>
        <c:numFmt formatCode="#,###,," sourceLinked="1"/>
        <c:majorTickMark val="out"/>
        <c:minorTickMark val="none"/>
        <c:tickLblPos val="nextTo"/>
        <c:crossAx val="24498790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242239811211048E-2"/>
          <c:y val="0.22271261900705036"/>
          <c:w val="0.89623558757283017"/>
          <c:h val="0.69956454033336957"/>
        </c:manualLayout>
      </c:layout>
      <c:lineChart>
        <c:grouping val="standard"/>
        <c:varyColors val="0"/>
        <c:ser>
          <c:idx val="0"/>
          <c:order val="0"/>
          <c:tx>
            <c:strRef>
              <c:f>밀레니얼!$C$40</c:f>
              <c:strCache>
                <c:ptCount val="1"/>
                <c:pt idx="0">
                  <c:v> 25년 </c:v>
                </c:pt>
              </c:strCache>
            </c:strRef>
          </c:tx>
          <c:spPr>
            <a:ln>
              <a:solidFill>
                <a:schemeClr val="bg1">
                  <a:lumMod val="65000"/>
                </a:schemeClr>
              </a:solidFill>
            </a:ln>
          </c:spPr>
          <c:marker>
            <c:spPr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c:spPr>
          </c:marker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0-E79E-4C24-BAC8-35A94F2AED5B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1-E79E-4C24-BAC8-35A94F2AED5B}"/>
              </c:ext>
            </c:extLst>
          </c:dPt>
          <c:dPt>
            <c:idx val="11"/>
            <c:bubble3D val="0"/>
            <c:extLst>
              <c:ext xmlns:c16="http://schemas.microsoft.com/office/drawing/2014/chart" uri="{C3380CC4-5D6E-409C-BE32-E72D297353CC}">
                <c16:uniqueId val="{00000002-E79E-4C24-BAC8-35A94F2AED5B}"/>
              </c:ext>
            </c:extLst>
          </c:dPt>
          <c:cat>
            <c:strRef>
              <c:f>밀레니얼!$E$39:$P$39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밀레니얼!$E$40:$P$40</c:f>
              <c:numCache>
                <c:formatCode>0.0%</c:formatCode>
                <c:ptCount val="12"/>
                <c:pt idx="0">
                  <c:v>0.76600000000000001</c:v>
                </c:pt>
                <c:pt idx="1">
                  <c:v>0.746</c:v>
                </c:pt>
                <c:pt idx="2">
                  <c:v>0.76200000000000001</c:v>
                </c:pt>
                <c:pt idx="3">
                  <c:v>0.75900000000000001</c:v>
                </c:pt>
                <c:pt idx="4">
                  <c:v>0.77100000000000002</c:v>
                </c:pt>
                <c:pt idx="5">
                  <c:v>0.76500000000000001</c:v>
                </c:pt>
                <c:pt idx="6">
                  <c:v>0.755</c:v>
                </c:pt>
                <c:pt idx="7">
                  <c:v>0.747</c:v>
                </c:pt>
                <c:pt idx="8">
                  <c:v>0.77700000000000002</c:v>
                </c:pt>
                <c:pt idx="9">
                  <c:v>0.78100000000000003</c:v>
                </c:pt>
                <c:pt idx="10">
                  <c:v>0.77900000000000003</c:v>
                </c:pt>
                <c:pt idx="11">
                  <c:v>0.78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9E-4C24-BAC8-35A94F2AED5B}"/>
            </c:ext>
          </c:extLst>
        </c:ser>
        <c:ser>
          <c:idx val="1"/>
          <c:order val="1"/>
          <c:tx>
            <c:strRef>
              <c:f>밀레니얼!$D$42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4-E79E-4C24-BAC8-35A94F2AED5B}"/>
              </c:ext>
            </c:extLst>
          </c:dPt>
          <c:dPt>
            <c:idx val="2"/>
            <c:marker>
              <c:symbol val="diamond"/>
              <c:size val="4"/>
            </c:marker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E79E-4C24-BAC8-35A94F2AED5B}"/>
              </c:ext>
            </c:extLst>
          </c:dPt>
          <c:dPt>
            <c:idx val="3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E79E-4C24-BAC8-35A94F2AED5B}"/>
              </c:ext>
            </c:extLst>
          </c:dPt>
          <c:dPt>
            <c:idx val="4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E79E-4C24-BAC8-35A94F2AED5B}"/>
              </c:ext>
            </c:extLst>
          </c:dPt>
          <c:dPt>
            <c:idx val="5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C-E79E-4C24-BAC8-35A94F2AED5B}"/>
              </c:ext>
            </c:extLst>
          </c:dPt>
          <c:dPt>
            <c:idx val="6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E-E79E-4C24-BAC8-35A94F2AED5B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10-E79E-4C24-BAC8-35A94F2AED5B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11-E79E-4C24-BAC8-35A94F2AED5B}"/>
              </c:ext>
            </c:extLst>
          </c:dPt>
          <c:dPt>
            <c:idx val="9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3-E79E-4C24-BAC8-35A94F2AED5B}"/>
              </c:ext>
            </c:extLst>
          </c:dPt>
          <c:dPt>
            <c:idx val="10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5-E79E-4C24-BAC8-35A94F2AED5B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17-E79E-4C24-BAC8-35A94F2AED5B}"/>
              </c:ext>
            </c:extLst>
          </c:dPt>
          <c:cat>
            <c:strRef>
              <c:f>밀레니얼!$E$39:$P$39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밀레니얼!$E$42:$P$42</c:f>
              <c:numCache>
                <c:formatCode>0.0%</c:formatCode>
                <c:ptCount val="12"/>
                <c:pt idx="0">
                  <c:v>0.78800000000000003</c:v>
                </c:pt>
                <c:pt idx="1">
                  <c:v>0.77700000000000002</c:v>
                </c:pt>
                <c:pt idx="2">
                  <c:v>0.77200000000000002</c:v>
                </c:pt>
                <c:pt idx="3">
                  <c:v>0.77500000000000002</c:v>
                </c:pt>
                <c:pt idx="4">
                  <c:v>0.82599999999999996</c:v>
                </c:pt>
                <c:pt idx="5">
                  <c:v>0.73699999999999999</c:v>
                </c:pt>
                <c:pt idx="6">
                  <c:v>0.8</c:v>
                </c:pt>
                <c:pt idx="7">
                  <c:v>0.76500000000000001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E79E-4C24-BAC8-35A94F2AED5B}"/>
            </c:ext>
          </c:extLst>
        </c:ser>
        <c:ser>
          <c:idx val="2"/>
          <c:order val="2"/>
          <c:tx>
            <c:strRef>
              <c:f>밀레니얼!$D$41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dPt>
            <c:idx val="0"/>
            <c:bubble3D val="0"/>
            <c:spPr>
              <a:ln>
                <a:solidFill>
                  <a:srgbClr val="00B0F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A-E79E-4C24-BAC8-35A94F2AED5B}"/>
              </c:ext>
            </c:extLst>
          </c:dPt>
          <c:cat>
            <c:strRef>
              <c:f>밀레니얼!$E$39:$P$39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밀레니얼!$E$41:$P$41</c:f>
              <c:numCache>
                <c:formatCode>0.0%</c:formatCode>
                <c:ptCount val="12"/>
                <c:pt idx="0">
                  <c:v>0.77200000000000002</c:v>
                </c:pt>
                <c:pt idx="1">
                  <c:v>0.77300000000000002</c:v>
                </c:pt>
                <c:pt idx="2">
                  <c:v>0.77200000000000002</c:v>
                </c:pt>
                <c:pt idx="3">
                  <c:v>0.77200000000000002</c:v>
                </c:pt>
                <c:pt idx="4">
                  <c:v>0.77200000000000002</c:v>
                </c:pt>
                <c:pt idx="5">
                  <c:v>0.77200000000000002</c:v>
                </c:pt>
                <c:pt idx="6">
                  <c:v>0.77300000000000002</c:v>
                </c:pt>
                <c:pt idx="7">
                  <c:v>0.77300000000000002</c:v>
                </c:pt>
                <c:pt idx="8">
                  <c:v>0.77200000000000002</c:v>
                </c:pt>
                <c:pt idx="9">
                  <c:v>0.77200000000000002</c:v>
                </c:pt>
                <c:pt idx="10">
                  <c:v>0.77300000000000002</c:v>
                </c:pt>
                <c:pt idx="11">
                  <c:v>0.76900000000000002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B-E79E-4C24-BAC8-35A94F2AED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3709568"/>
        <c:axId val="373991680"/>
      </c:lineChart>
      <c:catAx>
        <c:axId val="27370956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73991680"/>
        <c:crossesAt val="50"/>
        <c:auto val="1"/>
        <c:lblAlgn val="ctr"/>
        <c:lblOffset val="100"/>
        <c:noMultiLvlLbl val="0"/>
      </c:catAx>
      <c:valAx>
        <c:axId val="373991680"/>
        <c:scaling>
          <c:orientation val="minMax"/>
          <c:max val="1.1000000000000001"/>
          <c:min val="0.5"/>
        </c:scaling>
        <c:delete val="0"/>
        <c:axPos val="l"/>
        <c:numFmt formatCode="0.0%" sourceLinked="1"/>
        <c:majorTickMark val="none"/>
        <c:minorTickMark val="none"/>
        <c:tickLblPos val="nextTo"/>
        <c:crossAx val="273709568"/>
        <c:crosses val="autoZero"/>
        <c:crossBetween val="between"/>
        <c:minorUnit val="0.1"/>
      </c:valAx>
    </c:plotArea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090707303743646"/>
          <c:y val="0.2137440712512437"/>
          <c:w val="0.83075693791454519"/>
          <c:h val="0.63899423700342539"/>
        </c:manualLayout>
      </c:layout>
      <c:lineChart>
        <c:grouping val="standard"/>
        <c:varyColors val="0"/>
        <c:ser>
          <c:idx val="0"/>
          <c:order val="0"/>
          <c:tx>
            <c:strRef>
              <c:f>밀레니얼!$D$66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4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밀레니얼!$F$65:$Q$65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밀레니얼!$F$66:$Q$66</c:f>
              <c:numCache>
                <c:formatCode>0.0%</c:formatCode>
                <c:ptCount val="12"/>
                <c:pt idx="0">
                  <c:v>0.14499999999999999</c:v>
                </c:pt>
                <c:pt idx="1">
                  <c:v>0.16300000000000001</c:v>
                </c:pt>
                <c:pt idx="2">
                  <c:v>0.11</c:v>
                </c:pt>
                <c:pt idx="3">
                  <c:v>6.7000000000000004E-2</c:v>
                </c:pt>
                <c:pt idx="4">
                  <c:v>0.129</c:v>
                </c:pt>
                <c:pt idx="5">
                  <c:v>0.129</c:v>
                </c:pt>
                <c:pt idx="6">
                  <c:v>0.154</c:v>
                </c:pt>
                <c:pt idx="7">
                  <c:v>0.13</c:v>
                </c:pt>
                <c:pt idx="8">
                  <c:v>7.9000000000000001E-2</c:v>
                </c:pt>
                <c:pt idx="9">
                  <c:v>0.11</c:v>
                </c:pt>
                <c:pt idx="10">
                  <c:v>0.11600000000000001</c:v>
                </c:pt>
                <c:pt idx="11">
                  <c:v>3.3000000000000002E-2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14-4F50-83AE-A9751B7C460D}"/>
            </c:ext>
          </c:extLst>
        </c:ser>
        <c:ser>
          <c:idx val="2"/>
          <c:order val="1"/>
          <c:tx>
            <c:strRef>
              <c:f>밀레니얼!$D$70</c:f>
              <c:strCache>
                <c:ptCount val="1"/>
                <c:pt idx="0">
                  <c:v>실적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FA14-4F50-83AE-A9751B7C460D}"/>
              </c:ext>
            </c:extLst>
          </c:dPt>
          <c:dPt>
            <c:idx val="2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FA14-4F50-83AE-A9751B7C460D}"/>
              </c:ext>
            </c:extLst>
          </c:dPt>
          <c:dPt>
            <c:idx val="3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FA14-4F50-83AE-A9751B7C460D}"/>
              </c:ext>
            </c:extLst>
          </c:dPt>
          <c:dPt>
            <c:idx val="4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FA14-4F50-83AE-A9751B7C460D}"/>
              </c:ext>
            </c:extLst>
          </c:dPt>
          <c:dPt>
            <c:idx val="5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FA14-4F50-83AE-A9751B7C460D}"/>
              </c:ext>
            </c:extLst>
          </c:dPt>
          <c:dPt>
            <c:idx val="6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FA14-4F50-83AE-A9751B7C460D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D-FA14-4F50-83AE-A9751B7C460D}"/>
              </c:ext>
            </c:extLst>
          </c:dPt>
          <c:dPt>
            <c:idx val="8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F-FA14-4F50-83AE-A9751B7C460D}"/>
              </c:ext>
            </c:extLst>
          </c:dPt>
          <c:dPt>
            <c:idx val="9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1-FA14-4F50-83AE-A9751B7C460D}"/>
              </c:ext>
            </c:extLst>
          </c:dPt>
          <c:dPt>
            <c:idx val="10"/>
            <c:bubble3D val="0"/>
            <c:spPr>
              <a:ln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3-FA14-4F50-83AE-A9751B7C460D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15-FA14-4F50-83AE-A9751B7C460D}"/>
              </c:ext>
            </c:extLst>
          </c:dPt>
          <c:cat>
            <c:strRef>
              <c:f>밀레니얼!$F$65:$Q$65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밀레니얼!$F$70:$Q$70</c:f>
              <c:numCache>
                <c:formatCode>0.0%</c:formatCode>
                <c:ptCount val="12"/>
                <c:pt idx="0">
                  <c:v>0.14199999999999999</c:v>
                </c:pt>
                <c:pt idx="1">
                  <c:v>0.109</c:v>
                </c:pt>
                <c:pt idx="2">
                  <c:v>0.154</c:v>
                </c:pt>
                <c:pt idx="3">
                  <c:v>0.106</c:v>
                </c:pt>
                <c:pt idx="4">
                  <c:v>7.3999999999999996E-2</c:v>
                </c:pt>
                <c:pt idx="5">
                  <c:v>0.16900000000000001</c:v>
                </c:pt>
                <c:pt idx="6">
                  <c:v>0.105</c:v>
                </c:pt>
                <c:pt idx="7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6-FA14-4F50-83AE-A9751B7C460D}"/>
            </c:ext>
          </c:extLst>
        </c:ser>
        <c:ser>
          <c:idx val="1"/>
          <c:order val="2"/>
          <c:tx>
            <c:strRef>
              <c:f>밀레니얼!$D$68</c:f>
              <c:strCache>
                <c:ptCount val="1"/>
                <c:pt idx="0">
                  <c:v>목표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밀레니얼!$F$65:$Q$65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밀레니얼!$F$68:$Q$68</c:f>
              <c:numCache>
                <c:formatCode>0.0%</c:formatCode>
                <c:ptCount val="12"/>
                <c:pt idx="0">
                  <c:v>8.1000000000000003E-2</c:v>
                </c:pt>
                <c:pt idx="1">
                  <c:v>9.4E-2</c:v>
                </c:pt>
                <c:pt idx="2">
                  <c:v>0.11</c:v>
                </c:pt>
                <c:pt idx="3">
                  <c:v>0.11</c:v>
                </c:pt>
                <c:pt idx="4">
                  <c:v>0.11</c:v>
                </c:pt>
                <c:pt idx="5">
                  <c:v>0.111</c:v>
                </c:pt>
                <c:pt idx="6">
                  <c:v>0.112</c:v>
                </c:pt>
                <c:pt idx="7">
                  <c:v>0.105</c:v>
                </c:pt>
                <c:pt idx="8">
                  <c:v>0.11</c:v>
                </c:pt>
                <c:pt idx="9">
                  <c:v>0.11</c:v>
                </c:pt>
                <c:pt idx="10">
                  <c:v>0.1</c:v>
                </c:pt>
                <c:pt idx="11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7-FA14-4F50-83AE-A9751B7C46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3427712"/>
        <c:axId val="236494144"/>
      </c:lineChart>
      <c:catAx>
        <c:axId val="293427712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36494144"/>
        <c:crosses val="autoZero"/>
        <c:auto val="1"/>
        <c:lblAlgn val="ctr"/>
        <c:lblOffset val="100"/>
        <c:noMultiLvlLbl val="0"/>
      </c:catAx>
      <c:valAx>
        <c:axId val="236494144"/>
        <c:scaling>
          <c:orientation val="minMax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crossAx val="2934277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072064691335547"/>
          <c:y val="0.21824500508864964"/>
          <c:w val="0.80105252378134817"/>
          <c:h val="0.69551638015945971"/>
        </c:manualLayout>
      </c:layout>
      <c:lineChart>
        <c:grouping val="standard"/>
        <c:varyColors val="0"/>
        <c:ser>
          <c:idx val="1"/>
          <c:order val="0"/>
          <c:tx>
            <c:strRef>
              <c:f>'인슐,유전체 노무비'!$C$15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diamond"/>
            <c:size val="7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'인슐,유전체 노무비'!$D$14:$O$14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'인슐,유전체 노무비'!$D$15:$O$15</c:f>
              <c:numCache>
                <c:formatCode>0.0%</c:formatCode>
                <c:ptCount val="12"/>
                <c:pt idx="0">
                  <c:v>0.06</c:v>
                </c:pt>
                <c:pt idx="1">
                  <c:v>5.6000000000000001E-2</c:v>
                </c:pt>
                <c:pt idx="2">
                  <c:v>5.8000000000000003E-2</c:v>
                </c:pt>
                <c:pt idx="3">
                  <c:v>6.6000000000000003E-2</c:v>
                </c:pt>
                <c:pt idx="4">
                  <c:v>6.7000000000000004E-2</c:v>
                </c:pt>
                <c:pt idx="5">
                  <c:v>7.1999999999999995E-2</c:v>
                </c:pt>
                <c:pt idx="6">
                  <c:v>5.7000000000000002E-2</c:v>
                </c:pt>
                <c:pt idx="7">
                  <c:v>7.5999999999999998E-2</c:v>
                </c:pt>
                <c:pt idx="8">
                  <c:v>5.8999999999999997E-2</c:v>
                </c:pt>
                <c:pt idx="9">
                  <c:v>7.0000000000000007E-2</c:v>
                </c:pt>
                <c:pt idx="10">
                  <c:v>6.5000000000000002E-2</c:v>
                </c:pt>
                <c:pt idx="11">
                  <c:v>8.5999999999999993E-2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DF-4DC5-A7E0-46765AF6E29F}"/>
            </c:ext>
          </c:extLst>
        </c:ser>
        <c:ser>
          <c:idx val="2"/>
          <c:order val="1"/>
          <c:tx>
            <c:strRef>
              <c:f>'인슐,유전체 노무비'!$C$18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0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2-25DF-4DC5-A7E0-46765AF6E29F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3-25DF-4DC5-A7E0-46765AF6E29F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4-25DF-4DC5-A7E0-46765AF6E29F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5-25DF-4DC5-A7E0-46765AF6E29F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6-25DF-4DC5-A7E0-46765AF6E29F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7-25DF-4DC5-A7E0-46765AF6E29F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8-25DF-4DC5-A7E0-46765AF6E29F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A-25DF-4DC5-A7E0-46765AF6E29F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B-25DF-4DC5-A7E0-46765AF6E29F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C-25DF-4DC5-A7E0-46765AF6E29F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D-25DF-4DC5-A7E0-46765AF6E29F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F-25DF-4DC5-A7E0-46765AF6E29F}"/>
              </c:ext>
            </c:extLst>
          </c:dPt>
          <c:cat>
            <c:strRef>
              <c:f>'인슐,유전체 노무비'!$D$14:$O$14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'인슐,유전체 노무비'!$D$18:$O$18</c:f>
              <c:numCache>
                <c:formatCode>0.0%</c:formatCode>
                <c:ptCount val="12"/>
                <c:pt idx="0">
                  <c:v>5.8999999999999997E-2</c:v>
                </c:pt>
                <c:pt idx="1">
                  <c:v>7.1999999999999995E-2</c:v>
                </c:pt>
                <c:pt idx="2">
                  <c:v>6.0999999999999999E-2</c:v>
                </c:pt>
                <c:pt idx="3">
                  <c:v>7.5999999999999998E-2</c:v>
                </c:pt>
                <c:pt idx="4">
                  <c:v>7.1999999999999995E-2</c:v>
                </c:pt>
                <c:pt idx="5">
                  <c:v>6.6000000000000003E-2</c:v>
                </c:pt>
                <c:pt idx="6">
                  <c:v>5.6000000000000001E-2</c:v>
                </c:pt>
                <c:pt idx="7">
                  <c:v>6.7151650811415775E-2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25DF-4DC5-A7E0-46765AF6E29F}"/>
            </c:ext>
          </c:extLst>
        </c:ser>
        <c:ser>
          <c:idx val="0"/>
          <c:order val="2"/>
          <c:tx>
            <c:strRef>
              <c:f>'인슐,유전체 노무비'!$C$17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11-25DF-4DC5-A7E0-46765AF6E29F}"/>
              </c:ext>
            </c:extLst>
          </c:dPt>
          <c:cat>
            <c:strRef>
              <c:f>'인슐,유전체 노무비'!$D$14:$O$14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'인슐,유전체 노무비'!$D$17:$O$17</c:f>
              <c:numCache>
                <c:formatCode>0.0%</c:formatCode>
                <c:ptCount val="12"/>
                <c:pt idx="0">
                  <c:v>5.8000000000000003E-2</c:v>
                </c:pt>
                <c:pt idx="1">
                  <c:v>6.9400000000000003E-2</c:v>
                </c:pt>
                <c:pt idx="2">
                  <c:v>5.7000000000000002E-2</c:v>
                </c:pt>
                <c:pt idx="3">
                  <c:v>5.45E-2</c:v>
                </c:pt>
                <c:pt idx="4">
                  <c:v>6.3E-2</c:v>
                </c:pt>
                <c:pt idx="5">
                  <c:v>5.45E-2</c:v>
                </c:pt>
                <c:pt idx="6">
                  <c:v>5.21E-2</c:v>
                </c:pt>
                <c:pt idx="7">
                  <c:v>7.8700000000000006E-2</c:v>
                </c:pt>
                <c:pt idx="8">
                  <c:v>5.9200000000000003E-2</c:v>
                </c:pt>
                <c:pt idx="9">
                  <c:v>6.0100000000000001E-2</c:v>
                </c:pt>
                <c:pt idx="10">
                  <c:v>5.7099999999999998E-2</c:v>
                </c:pt>
                <c:pt idx="11">
                  <c:v>7.22E-2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2-25DF-4DC5-A7E0-46765AF6E2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573056"/>
        <c:axId val="277310272"/>
      </c:lineChart>
      <c:catAx>
        <c:axId val="278573056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77310272"/>
        <c:crosses val="autoZero"/>
        <c:auto val="1"/>
        <c:lblAlgn val="ctr"/>
        <c:lblOffset val="100"/>
        <c:noMultiLvlLbl val="0"/>
      </c:catAx>
      <c:valAx>
        <c:axId val="27731027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crossAx val="27857305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79970211863036"/>
          <c:y val="0.20936261288481808"/>
          <c:w val="0.80366690872439128"/>
          <c:h val="0.74657860378302865"/>
        </c:manualLayout>
      </c:layout>
      <c:lineChart>
        <c:grouping val="standard"/>
        <c:varyColors val="0"/>
        <c:ser>
          <c:idx val="0"/>
          <c:order val="0"/>
          <c:tx>
            <c:strRef>
              <c:f>'인슐,유전체 노무비'!$C$60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4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'인슐,유전체 노무비'!$D$59:$O$59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'인슐,유전체 노무비'!$D$60:$O$60</c:f>
              <c:numCache>
                <c:formatCode>0.0%</c:formatCode>
                <c:ptCount val="12"/>
                <c:pt idx="0">
                  <c:v>0.11899999999999999</c:v>
                </c:pt>
                <c:pt idx="1">
                  <c:v>0.10100000000000001</c:v>
                </c:pt>
                <c:pt idx="2">
                  <c:v>0.114</c:v>
                </c:pt>
                <c:pt idx="3">
                  <c:v>0.14399999999999999</c:v>
                </c:pt>
                <c:pt idx="4">
                  <c:v>0.16200000000000001</c:v>
                </c:pt>
                <c:pt idx="5">
                  <c:v>0.14299999999999999</c:v>
                </c:pt>
                <c:pt idx="6">
                  <c:v>0.108</c:v>
                </c:pt>
                <c:pt idx="7">
                  <c:v>0.19700000000000001</c:v>
                </c:pt>
                <c:pt idx="8">
                  <c:v>13.593999999999999</c:v>
                </c:pt>
                <c:pt idx="9">
                  <c:v>0.13100000000000001</c:v>
                </c:pt>
                <c:pt idx="10">
                  <c:v>0.14399999999999999</c:v>
                </c:pt>
                <c:pt idx="11">
                  <c:v>0.16600000000000001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4A-4D7C-B9C4-0492FC01D172}"/>
            </c:ext>
          </c:extLst>
        </c:ser>
        <c:ser>
          <c:idx val="1"/>
          <c:order val="1"/>
          <c:tx>
            <c:strRef>
              <c:f>'인슐,유전체 노무비'!$C$63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364A-4D7C-B9C4-0492FC01D172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364A-4D7C-B9C4-0492FC01D172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3-364A-4D7C-B9C4-0492FC01D172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364A-4D7C-B9C4-0492FC01D172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364A-4D7C-B9C4-0492FC01D172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364A-4D7C-B9C4-0492FC01D172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8-364A-4D7C-B9C4-0492FC01D172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9-364A-4D7C-B9C4-0492FC01D172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A-364A-4D7C-B9C4-0492FC01D172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B-364A-4D7C-B9C4-0492FC01D172}"/>
              </c:ext>
            </c:extLst>
          </c:dPt>
          <c:dPt>
            <c:idx val="11"/>
            <c:bubble3D val="0"/>
            <c:extLst>
              <c:ext xmlns:c16="http://schemas.microsoft.com/office/drawing/2014/chart" uri="{C3380CC4-5D6E-409C-BE32-E72D297353CC}">
                <c16:uniqueId val="{0000000C-364A-4D7C-B9C4-0492FC01D172}"/>
              </c:ext>
            </c:extLst>
          </c:dPt>
          <c:cat>
            <c:strRef>
              <c:f>'인슐,유전체 노무비'!$D$59:$O$59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'인슐,유전체 노무비'!$D$63:$O$63</c:f>
              <c:numCache>
                <c:formatCode>0.0%</c:formatCode>
                <c:ptCount val="12"/>
                <c:pt idx="0">
                  <c:v>9.1999999999999998E-2</c:v>
                </c:pt>
                <c:pt idx="1">
                  <c:v>9.5000000000000001E-2</c:v>
                </c:pt>
                <c:pt idx="2">
                  <c:v>8.4000000000000005E-2</c:v>
                </c:pt>
                <c:pt idx="3">
                  <c:v>0.11899999999999999</c:v>
                </c:pt>
                <c:pt idx="4">
                  <c:v>0.77300000000000002</c:v>
                </c:pt>
                <c:pt idx="5">
                  <c:v>0.51400000000000001</c:v>
                </c:pt>
                <c:pt idx="6">
                  <c:v>0.19400000000000001</c:v>
                </c:pt>
                <c:pt idx="7">
                  <c:v>0.18604651162790697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364A-4D7C-B9C4-0492FC01D172}"/>
            </c:ext>
          </c:extLst>
        </c:ser>
        <c:ser>
          <c:idx val="2"/>
          <c:order val="2"/>
          <c:tx>
            <c:strRef>
              <c:f>'인슐,유전체 노무비'!$C$62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x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'인슐,유전체 노무비'!$D$59:$O$59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'인슐,유전체 노무비'!$D$62:$O$62</c:f>
              <c:numCache>
                <c:formatCode>0.0%</c:formatCode>
                <c:ptCount val="12"/>
                <c:pt idx="0">
                  <c:v>0.127</c:v>
                </c:pt>
                <c:pt idx="1">
                  <c:v>0.13100000000000001</c:v>
                </c:pt>
                <c:pt idx="2">
                  <c:v>0.109</c:v>
                </c:pt>
                <c:pt idx="3">
                  <c:v>0.113</c:v>
                </c:pt>
                <c:pt idx="4">
                  <c:v>0.108</c:v>
                </c:pt>
                <c:pt idx="5">
                  <c:v>0.11899999999999999</c:v>
                </c:pt>
                <c:pt idx="6">
                  <c:v>0.124</c:v>
                </c:pt>
                <c:pt idx="7">
                  <c:v>0.14599999999999999</c:v>
                </c:pt>
                <c:pt idx="8">
                  <c:v>0.14599999999999999</c:v>
                </c:pt>
                <c:pt idx="9">
                  <c:v>0.129</c:v>
                </c:pt>
                <c:pt idx="10">
                  <c:v>0.13</c:v>
                </c:pt>
                <c:pt idx="11">
                  <c:v>0.23400000000000001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364A-4D7C-B9C4-0492FC01D1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575104"/>
        <c:axId val="277313152"/>
      </c:lineChart>
      <c:catAx>
        <c:axId val="27857510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77313152"/>
        <c:crosses val="autoZero"/>
        <c:auto val="1"/>
        <c:lblAlgn val="ctr"/>
        <c:lblOffset val="100"/>
        <c:noMultiLvlLbl val="0"/>
      </c:catAx>
      <c:valAx>
        <c:axId val="27731315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crossAx val="27857510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82410154371522"/>
          <c:y val="0.18851504359552479"/>
          <c:w val="0.8311386497896881"/>
          <c:h val="0.73853180286286324"/>
        </c:manualLayout>
      </c:layout>
      <c:lineChart>
        <c:grouping val="standard"/>
        <c:varyColors val="0"/>
        <c:ser>
          <c:idx val="0"/>
          <c:order val="0"/>
          <c:tx>
            <c:strRef>
              <c:f>'탈취필터,밀레니얼 노무비'!$C$18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triangle"/>
            <c:size val="4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'탈취필터,밀레니얼 노무비'!$D$17:$O$17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'탈취필터,밀레니얼 노무비'!$D$18:$O$18</c:f>
              <c:numCache>
                <c:formatCode>0.0%</c:formatCode>
                <c:ptCount val="12"/>
                <c:pt idx="0">
                  <c:v>8.5999999999999993E-2</c:v>
                </c:pt>
                <c:pt idx="1">
                  <c:v>5.6000000000000001E-2</c:v>
                </c:pt>
                <c:pt idx="2">
                  <c:v>6.8000000000000005E-2</c:v>
                </c:pt>
                <c:pt idx="3">
                  <c:v>0.05</c:v>
                </c:pt>
                <c:pt idx="4">
                  <c:v>0.13300000000000001</c:v>
                </c:pt>
                <c:pt idx="5">
                  <c:v>0.11700000000000001</c:v>
                </c:pt>
                <c:pt idx="6">
                  <c:v>7.0999999999999994E-2</c:v>
                </c:pt>
                <c:pt idx="7">
                  <c:v>0.106</c:v>
                </c:pt>
                <c:pt idx="8">
                  <c:v>0.122</c:v>
                </c:pt>
                <c:pt idx="9">
                  <c:v>9.6000000000000002E-2</c:v>
                </c:pt>
                <c:pt idx="10">
                  <c:v>6.3E-2</c:v>
                </c:pt>
                <c:pt idx="11">
                  <c:v>0.123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07-4FDB-A9B1-D9F33706C845}"/>
            </c:ext>
          </c:extLst>
        </c:ser>
        <c:ser>
          <c:idx val="1"/>
          <c:order val="1"/>
          <c:tx>
            <c:strRef>
              <c:f>'탈취필터,밀레니얼 노무비'!$C$21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0207-4FDB-A9B1-D9F33706C845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0207-4FDB-A9B1-D9F33706C845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3-0207-4FDB-A9B1-D9F33706C845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0207-4FDB-A9B1-D9F33706C845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0207-4FDB-A9B1-D9F33706C845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0207-4FDB-A9B1-D9F33706C845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8-0207-4FDB-A9B1-D9F33706C845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9-0207-4FDB-A9B1-D9F33706C845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A-0207-4FDB-A9B1-D9F33706C845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B-0207-4FDB-A9B1-D9F33706C845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D-0207-4FDB-A9B1-D9F33706C845}"/>
              </c:ext>
            </c:extLst>
          </c:dPt>
          <c:cat>
            <c:strRef>
              <c:f>'탈취필터,밀레니얼 노무비'!$D$17:$O$17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'탈취필터,밀레니얼 노무비'!$D$21:$O$21</c:f>
              <c:numCache>
                <c:formatCode>0.0%</c:formatCode>
                <c:ptCount val="12"/>
                <c:pt idx="0">
                  <c:v>7.2999999999999995E-2</c:v>
                </c:pt>
                <c:pt idx="1">
                  <c:v>8.3000000000000004E-2</c:v>
                </c:pt>
                <c:pt idx="2">
                  <c:v>4.7E-2</c:v>
                </c:pt>
                <c:pt idx="3">
                  <c:v>3.9E-2</c:v>
                </c:pt>
                <c:pt idx="4">
                  <c:v>0.105</c:v>
                </c:pt>
                <c:pt idx="5">
                  <c:v>9.1999999999999998E-2</c:v>
                </c:pt>
                <c:pt idx="6">
                  <c:v>9.7000000000000003E-2</c:v>
                </c:pt>
                <c:pt idx="7">
                  <c:v>0.11627906976744186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0207-4FDB-A9B1-D9F33706C845}"/>
            </c:ext>
          </c:extLst>
        </c:ser>
        <c:ser>
          <c:idx val="2"/>
          <c:order val="2"/>
          <c:tx>
            <c:strRef>
              <c:f>'탈취필터,밀레니얼 노무비'!$C$20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square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'탈취필터,밀레니얼 노무비'!$D$17:$O$17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'탈취필터,밀레니얼 노무비'!$D$20:$O$20</c:f>
              <c:numCache>
                <c:formatCode>0.0%</c:formatCode>
                <c:ptCount val="12"/>
                <c:pt idx="0">
                  <c:v>5.8000000000000003E-2</c:v>
                </c:pt>
                <c:pt idx="1">
                  <c:v>5.6000000000000001E-2</c:v>
                </c:pt>
                <c:pt idx="2">
                  <c:v>5.5E-2</c:v>
                </c:pt>
                <c:pt idx="3">
                  <c:v>4.9000000000000002E-2</c:v>
                </c:pt>
                <c:pt idx="4">
                  <c:v>6.3E-2</c:v>
                </c:pt>
                <c:pt idx="5">
                  <c:v>5.8999999999999997E-2</c:v>
                </c:pt>
                <c:pt idx="6">
                  <c:v>6.3E-2</c:v>
                </c:pt>
                <c:pt idx="7">
                  <c:v>7.4999999999999997E-2</c:v>
                </c:pt>
                <c:pt idx="8">
                  <c:v>6.3E-2</c:v>
                </c:pt>
                <c:pt idx="9">
                  <c:v>5.3999999999999999E-2</c:v>
                </c:pt>
                <c:pt idx="10">
                  <c:v>5.8000000000000003E-2</c:v>
                </c:pt>
                <c:pt idx="11">
                  <c:v>8.1000000000000003E-2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0207-4FDB-A9B1-D9F33706C8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1157504"/>
        <c:axId val="291047104"/>
      </c:lineChart>
      <c:catAx>
        <c:axId val="29115750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1047104"/>
        <c:crosses val="autoZero"/>
        <c:auto val="1"/>
        <c:lblAlgn val="ctr"/>
        <c:lblOffset val="100"/>
        <c:noMultiLvlLbl val="0"/>
      </c:catAx>
      <c:valAx>
        <c:axId val="291047104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crossAx val="29115750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47107475758207"/>
          <c:y val="0.14957032664419928"/>
          <c:w val="0.8311386497896881"/>
          <c:h val="0.73853180286286324"/>
        </c:manualLayout>
      </c:layout>
      <c:lineChart>
        <c:grouping val="standard"/>
        <c:varyColors val="0"/>
        <c:ser>
          <c:idx val="0"/>
          <c:order val="0"/>
          <c:tx>
            <c:strRef>
              <c:f>'탈취필터,밀레니얼 노무비'!$C$45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diamond"/>
            <c:size val="7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</c:marker>
          <c:cat>
            <c:strRef>
              <c:f>'탈취필터,밀레니얼 노무비'!$D$44:$O$44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'탈취필터,밀레니얼 노무비'!$D$45:$O$45</c:f>
              <c:numCache>
                <c:formatCode>0.0%</c:formatCode>
                <c:ptCount val="12"/>
                <c:pt idx="0">
                  <c:v>2.4E-2</c:v>
                </c:pt>
                <c:pt idx="1">
                  <c:v>2.3E-2</c:v>
                </c:pt>
                <c:pt idx="2">
                  <c:v>0.02</c:v>
                </c:pt>
                <c:pt idx="3">
                  <c:v>2.7E-2</c:v>
                </c:pt>
                <c:pt idx="4">
                  <c:v>0.03</c:v>
                </c:pt>
                <c:pt idx="5">
                  <c:v>3.7999999999999999E-2</c:v>
                </c:pt>
                <c:pt idx="6">
                  <c:v>2.8000000000000001E-2</c:v>
                </c:pt>
                <c:pt idx="7">
                  <c:v>4.2999999999999997E-2</c:v>
                </c:pt>
                <c:pt idx="8">
                  <c:v>5.7000000000000002E-2</c:v>
                </c:pt>
                <c:pt idx="9">
                  <c:v>6.2E-2</c:v>
                </c:pt>
                <c:pt idx="10">
                  <c:v>5.5E-2</c:v>
                </c:pt>
                <c:pt idx="11">
                  <c:v>5.8999999999999997E-2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D6-49BB-8522-075BC8FDBF02}"/>
            </c:ext>
          </c:extLst>
        </c:ser>
        <c:ser>
          <c:idx val="1"/>
          <c:order val="1"/>
          <c:tx>
            <c:strRef>
              <c:f>'탈취필터,밀레니얼 노무비'!$C$48</c:f>
              <c:strCache>
                <c:ptCount val="1"/>
                <c:pt idx="0">
                  <c:v> 실적 </c:v>
                </c:pt>
              </c:strCache>
            </c:strRef>
          </c:tx>
          <c:spPr>
            <a:ln>
              <a:solidFill>
                <a:schemeClr val="tx1"/>
              </a:solidFill>
              <a:prstDash val="solid"/>
            </a:ln>
          </c:spPr>
          <c:marker>
            <c:symbol val="diamond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7CD6-49BB-8522-075BC8FDBF02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7CD6-49BB-8522-075BC8FDBF02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3-7CD6-49BB-8522-075BC8FDBF02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7CD6-49BB-8522-075BC8FDBF02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7CD6-49BB-8522-075BC8FDBF02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7CD6-49BB-8522-075BC8FDBF02}"/>
              </c:ext>
            </c:extLst>
          </c:dPt>
          <c:dPt>
            <c:idx val="7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8-7CD6-49BB-8522-075BC8FDBF02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9-7CD6-49BB-8522-075BC8FDBF02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A-7CD6-49BB-8522-075BC8FDBF02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B-7CD6-49BB-8522-075BC8FDBF02}"/>
              </c:ext>
            </c:extLst>
          </c:dPt>
          <c:dPt>
            <c:idx val="11"/>
            <c:bubble3D val="0"/>
            <c:spPr>
              <a:ln>
                <a:solidFill>
                  <a:schemeClr val="tx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D-7CD6-49BB-8522-075BC8FDBF02}"/>
              </c:ext>
            </c:extLst>
          </c:dPt>
          <c:cat>
            <c:strRef>
              <c:f>'탈취필터,밀레니얼 노무비'!$D$44:$O$44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'탈취필터,밀레니얼 노무비'!$D$48:$O$48</c:f>
              <c:numCache>
                <c:formatCode>0.0%</c:formatCode>
                <c:ptCount val="12"/>
                <c:pt idx="0">
                  <c:v>3.1E-2</c:v>
                </c:pt>
                <c:pt idx="1">
                  <c:v>4.1000000000000002E-2</c:v>
                </c:pt>
                <c:pt idx="2">
                  <c:v>2.8000000000000001E-2</c:v>
                </c:pt>
                <c:pt idx="3">
                  <c:v>3.5999999999999997E-2</c:v>
                </c:pt>
                <c:pt idx="4">
                  <c:v>2.8000000000000001E-2</c:v>
                </c:pt>
                <c:pt idx="5">
                  <c:v>2.1999999999999999E-2</c:v>
                </c:pt>
                <c:pt idx="6">
                  <c:v>3.2000000000000001E-2</c:v>
                </c:pt>
                <c:pt idx="7">
                  <c:v>0.1076923076923077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7CD6-49BB-8522-075BC8FDBF02}"/>
            </c:ext>
          </c:extLst>
        </c:ser>
        <c:ser>
          <c:idx val="2"/>
          <c:order val="2"/>
          <c:tx>
            <c:strRef>
              <c:f>'탈취필터,밀레니얼 노무비'!$C$47</c:f>
              <c:strCache>
                <c:ptCount val="1"/>
                <c:pt idx="0">
                  <c:v> 목표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square"/>
            <c:size val="4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</c:spPr>
          </c:marker>
          <c:cat>
            <c:strRef>
              <c:f>'탈취필터,밀레니얼 노무비'!$D$44:$O$44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'탈취필터,밀레니얼 노무비'!$D$47:$O$47</c:f>
              <c:numCache>
                <c:formatCode>0.0%</c:formatCode>
                <c:ptCount val="12"/>
                <c:pt idx="0">
                  <c:v>5.0999999999999997E-2</c:v>
                </c:pt>
                <c:pt idx="1">
                  <c:v>4.4999999999999998E-2</c:v>
                </c:pt>
                <c:pt idx="2">
                  <c:v>0.04</c:v>
                </c:pt>
                <c:pt idx="3">
                  <c:v>0.04</c:v>
                </c:pt>
                <c:pt idx="4">
                  <c:v>0.04</c:v>
                </c:pt>
                <c:pt idx="5">
                  <c:v>0.04</c:v>
                </c:pt>
                <c:pt idx="6">
                  <c:v>3.9E-2</c:v>
                </c:pt>
                <c:pt idx="7">
                  <c:v>4.2000000000000003E-2</c:v>
                </c:pt>
                <c:pt idx="8">
                  <c:v>0.04</c:v>
                </c:pt>
                <c:pt idx="9">
                  <c:v>0.04</c:v>
                </c:pt>
                <c:pt idx="10">
                  <c:v>4.2999999999999997E-2</c:v>
                </c:pt>
                <c:pt idx="11">
                  <c:v>5.3999999999999999E-2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7CD6-49BB-8522-075BC8FDBF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499328"/>
        <c:axId val="291050560"/>
      </c:lineChart>
      <c:catAx>
        <c:axId val="278499328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1050560"/>
        <c:crosses val="autoZero"/>
        <c:auto val="1"/>
        <c:lblAlgn val="ctr"/>
        <c:lblOffset val="100"/>
        <c:noMultiLvlLbl val="0"/>
      </c:catAx>
      <c:valAx>
        <c:axId val="291050560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crossAx val="27849932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090021743961588E-2"/>
          <c:y val="5.0251256281407038E-2"/>
          <c:w val="0.90323980670097481"/>
          <c:h val="0.71837210389815942"/>
        </c:manualLayout>
      </c:layout>
      <c:lineChart>
        <c:grouping val="standard"/>
        <c:varyColors val="0"/>
        <c:ser>
          <c:idx val="0"/>
          <c:order val="0"/>
          <c:tx>
            <c:strRef>
              <c:f>'26년꺼'!$B$3:$C$3</c:f>
              <c:strCache>
                <c:ptCount val="2"/>
                <c:pt idx="0">
                  <c:v>26년</c:v>
                </c:pt>
                <c:pt idx="1">
                  <c:v>재고비율 제품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triangle"/>
            <c:size val="5"/>
            <c:spPr>
              <a:solidFill>
                <a:srgbClr val="00B0F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'26년꺼'!$D$2:$P$2</c:f>
              <c:strCache>
                <c:ptCount val="13"/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'26년꺼'!$D$3:$P$3</c:f>
              <c:numCache>
                <c:formatCode>General</c:formatCode>
                <c:ptCount val="13"/>
                <c:pt idx="1">
                  <c:v>12</c:v>
                </c:pt>
                <c:pt idx="2">
                  <c:v>12.5</c:v>
                </c:pt>
                <c:pt idx="3">
                  <c:v>13.3</c:v>
                </c:pt>
                <c:pt idx="4" formatCode="0.0">
                  <c:v>19.7</c:v>
                </c:pt>
                <c:pt idx="5">
                  <c:v>19.3</c:v>
                </c:pt>
                <c:pt idx="6">
                  <c:v>19.399999999999999</c:v>
                </c:pt>
                <c:pt idx="7">
                  <c:v>13.4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F1-4AB7-B0F3-29C27FCAD18A}"/>
            </c:ext>
          </c:extLst>
        </c:ser>
        <c:ser>
          <c:idx val="1"/>
          <c:order val="1"/>
          <c:tx>
            <c:strRef>
              <c:f>'26년꺼'!$B$4:$C$4</c:f>
              <c:strCache>
                <c:ptCount val="2"/>
                <c:pt idx="0">
                  <c:v>26년</c:v>
                </c:pt>
                <c:pt idx="1">
                  <c:v>재고비율 자재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'26년꺼'!$D$2:$P$2</c:f>
              <c:strCache>
                <c:ptCount val="13"/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'26년꺼'!$D$4:$P$4</c:f>
              <c:numCache>
                <c:formatCode>General</c:formatCode>
                <c:ptCount val="13"/>
                <c:pt idx="1">
                  <c:v>11.3</c:v>
                </c:pt>
                <c:pt idx="2">
                  <c:v>17.600000000000001</c:v>
                </c:pt>
                <c:pt idx="3">
                  <c:v>14</c:v>
                </c:pt>
                <c:pt idx="4">
                  <c:v>19.5</c:v>
                </c:pt>
                <c:pt idx="5">
                  <c:v>25.5</c:v>
                </c:pt>
                <c:pt idx="6" formatCode="0.0">
                  <c:v>22.8</c:v>
                </c:pt>
                <c:pt idx="7">
                  <c:v>20.7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F1-4AB7-B0F3-29C27FCAD1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9167504"/>
        <c:axId val="389178544"/>
      </c:lineChart>
      <c:catAx>
        <c:axId val="389167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9178544"/>
        <c:crosses val="autoZero"/>
        <c:auto val="1"/>
        <c:lblAlgn val="ctr"/>
        <c:lblOffset val="100"/>
        <c:noMultiLvlLbl val="0"/>
      </c:catAx>
      <c:valAx>
        <c:axId val="38917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9167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7992213473315838"/>
          <c:y val="3.2985564304461902E-2"/>
          <c:w val="0.66793328958880138"/>
          <c:h val="7.8125546806649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052" cy="497126"/>
          </a:xfrm>
          <a:prstGeom prst="rect">
            <a:avLst/>
          </a:prstGeom>
        </p:spPr>
        <p:txBody>
          <a:bodyPr vert="horz" lIns="91472" tIns="45735" rIns="91472" bIns="4573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561" y="0"/>
            <a:ext cx="2950051" cy="497126"/>
          </a:xfrm>
          <a:prstGeom prst="rect">
            <a:avLst/>
          </a:prstGeom>
        </p:spPr>
        <p:txBody>
          <a:bodyPr vert="horz" lIns="91472" tIns="45735" rIns="91472" bIns="45735" rtlCol="0"/>
          <a:lstStyle>
            <a:lvl1pPr algn="r">
              <a:defRPr sz="1200"/>
            </a:lvl1pPr>
          </a:lstStyle>
          <a:p>
            <a:fld id="{0550DF81-90EB-4CE4-8CA4-7102E44F9EFF}" type="datetime1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624"/>
            <a:ext cx="2950052" cy="497126"/>
          </a:xfrm>
          <a:prstGeom prst="rect">
            <a:avLst/>
          </a:prstGeom>
        </p:spPr>
        <p:txBody>
          <a:bodyPr vert="horz" lIns="91472" tIns="45735" rIns="91472" bIns="4573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561" y="9440624"/>
            <a:ext cx="2950051" cy="497126"/>
          </a:xfrm>
          <a:prstGeom prst="rect">
            <a:avLst/>
          </a:prstGeom>
        </p:spPr>
        <p:txBody>
          <a:bodyPr vert="horz" lIns="91472" tIns="45735" rIns="91472" bIns="45735" rtlCol="0" anchor="b"/>
          <a:lstStyle>
            <a:lvl1pPr algn="r">
              <a:defRPr sz="1200"/>
            </a:lvl1pPr>
          </a:lstStyle>
          <a:p>
            <a:fld id="{BACD7ED4-5302-45A7-A0D4-B3EC87B03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7058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9787" cy="496967"/>
          </a:xfrm>
          <a:prstGeom prst="rect">
            <a:avLst/>
          </a:prstGeom>
        </p:spPr>
        <p:txBody>
          <a:bodyPr vert="horz" lIns="91472" tIns="45735" rIns="91472" bIns="4573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2"/>
            <a:ext cx="2949787" cy="496967"/>
          </a:xfrm>
          <a:prstGeom prst="rect">
            <a:avLst/>
          </a:prstGeom>
        </p:spPr>
        <p:txBody>
          <a:bodyPr vert="horz" lIns="91472" tIns="45735" rIns="91472" bIns="45735" rtlCol="0"/>
          <a:lstStyle>
            <a:lvl1pPr algn="r">
              <a:defRPr sz="1200"/>
            </a:lvl1pPr>
          </a:lstStyle>
          <a:p>
            <a:fld id="{30206979-6540-429D-A35D-087E11EB54AB}" type="datetime1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2" tIns="45735" rIns="91472" bIns="4573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472" tIns="45735" rIns="91472" bIns="4573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9"/>
            <a:ext cx="2949787" cy="496967"/>
          </a:xfrm>
          <a:prstGeom prst="rect">
            <a:avLst/>
          </a:prstGeom>
        </p:spPr>
        <p:txBody>
          <a:bodyPr vert="horz" lIns="91472" tIns="45735" rIns="91472" bIns="4573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9"/>
            <a:ext cx="2949787" cy="496967"/>
          </a:xfrm>
          <a:prstGeom prst="rect">
            <a:avLst/>
          </a:prstGeom>
        </p:spPr>
        <p:txBody>
          <a:bodyPr vert="horz" lIns="91472" tIns="45735" rIns="91472" bIns="45735" rtlCol="0" anchor="b"/>
          <a:lstStyle>
            <a:lvl1pPr algn="r">
              <a:defRPr sz="1200"/>
            </a:lvl1pPr>
          </a:lstStyle>
          <a:p>
            <a:fld id="{1DDBAE85-AF13-4350-BD81-F212EC7D93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8600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4949B6-C8D1-4D77-9694-EB151B8AF13F}" type="slidenum">
              <a:rPr lang="en-US" altLang="ko-KR">
                <a:solidFill>
                  <a:prstClr val="black"/>
                </a:solidFill>
              </a:rPr>
              <a:pPr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629" y="4721186"/>
            <a:ext cx="4991947" cy="4472702"/>
          </a:xfrm>
          <a:noFill/>
          <a:ln/>
        </p:spPr>
        <p:txBody>
          <a:bodyPr/>
          <a:lstStyle/>
          <a:p>
            <a:pPr eaLnBrk="1" hangingPunct="1"/>
            <a:r>
              <a:rPr lang="ko-KR" altLang="en-US" dirty="0"/>
              <a:t>전년대비 </a:t>
            </a:r>
            <a:r>
              <a:rPr lang="en-US" altLang="ko-KR" dirty="0"/>
              <a:t>6.2-2.7 </a:t>
            </a:r>
            <a:r>
              <a:rPr lang="ko-KR" altLang="en-US" dirty="0" err="1"/>
              <a:t>인슐</a:t>
            </a:r>
            <a:endParaRPr lang="ko-KR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D4B9-964A-7705-2AD2-41EC69781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FB8E770-BE69-01A3-A987-009C25882F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4949B6-C8D1-4D77-9694-EB151B8AF13F}" type="slidenum">
              <a:rPr lang="en-US" altLang="ko-KR">
                <a:solidFill>
                  <a:prstClr val="black"/>
                </a:solidFill>
              </a:rPr>
              <a:pPr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EB99287-F81A-A9A8-8925-16171B5F1E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F27F344-22FC-7849-B6E5-A6B0E7D77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7629" y="4721186"/>
            <a:ext cx="4991947" cy="4472702"/>
          </a:xfrm>
          <a:noFill/>
          <a:ln/>
        </p:spPr>
        <p:txBody>
          <a:bodyPr/>
          <a:lstStyle/>
          <a:p>
            <a:pPr eaLnBrk="1" hangingPunct="1"/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473780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0BF5-6FCC-44FF-D7E7-2BAD17466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1366CC2D-D783-3629-81F0-07C746F3A5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4949B6-C8D1-4D77-9694-EB151B8AF13F}" type="slidenum">
              <a:rPr lang="en-US" altLang="ko-KR">
                <a:solidFill>
                  <a:prstClr val="black"/>
                </a:solidFill>
              </a:rPr>
              <a:pPr/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A62E4E7-4817-27EC-93D8-2CE184BDFB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0B03484-E136-F00B-C2C4-C80EA0D47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7629" y="4721186"/>
            <a:ext cx="4991947" cy="4472702"/>
          </a:xfrm>
          <a:noFill/>
          <a:ln/>
        </p:spPr>
        <p:txBody>
          <a:bodyPr/>
          <a:lstStyle/>
          <a:p>
            <a:pPr eaLnBrk="1" hangingPunct="1"/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591096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AB70B-2EA6-4BF7-082E-CD5C0D87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EC844E42-C832-0E0D-5F50-404317D938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4949B6-C8D1-4D77-9694-EB151B8AF13F}" type="slidenum">
              <a:rPr lang="en-US" altLang="ko-KR">
                <a:solidFill>
                  <a:prstClr val="black"/>
                </a:solidFill>
              </a:rPr>
              <a:pPr/>
              <a:t>5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46EF3B4-6FA0-9CA4-2767-7B4C75D6D8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2F945E3-F891-476B-5807-7860C9EBD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7629" y="4721186"/>
            <a:ext cx="4991947" cy="4472702"/>
          </a:xfrm>
          <a:noFill/>
          <a:ln/>
        </p:spPr>
        <p:txBody>
          <a:bodyPr/>
          <a:lstStyle/>
          <a:p>
            <a:pPr eaLnBrk="1" hangingPunct="1"/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981999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21F9-08AD-99AB-C0D1-2E938C0D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93B1D43A-930B-F306-791D-61A602F325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4949B6-C8D1-4D77-9694-EB151B8AF13F}" type="slidenum">
              <a:rPr lang="en-US" altLang="ko-KR">
                <a:solidFill>
                  <a:prstClr val="black"/>
                </a:solidFill>
              </a:rPr>
              <a:pPr/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C4CDC93-D7FE-3573-EA6E-03B8E747D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22EF3E8-87B3-729D-A067-4F4D50C5B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7629" y="4721186"/>
            <a:ext cx="4991947" cy="4472702"/>
          </a:xfrm>
          <a:noFill/>
          <a:ln/>
        </p:spPr>
        <p:txBody>
          <a:bodyPr/>
          <a:lstStyle/>
          <a:p>
            <a:pPr eaLnBrk="1" hangingPunct="1"/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660990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10ABB-551C-52B0-DF1B-7520D902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2D0A9A3-BE7F-AAB8-10F9-E66650DA05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4949B6-C8D1-4D77-9694-EB151B8AF13F}" type="slidenum">
              <a:rPr lang="en-US" altLang="ko-KR">
                <a:solidFill>
                  <a:prstClr val="black"/>
                </a:solidFill>
              </a:rPr>
              <a:pPr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36D04C4-A87C-4A6C-2C4B-8FF15DCE65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6501D68-0FBB-8B4D-7D28-FB5927FEE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7629" y="4721186"/>
            <a:ext cx="4991947" cy="4472702"/>
          </a:xfrm>
          <a:noFill/>
          <a:ln/>
        </p:spPr>
        <p:txBody>
          <a:bodyPr/>
          <a:lstStyle/>
          <a:p>
            <a:pPr eaLnBrk="1" hangingPunct="1"/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82318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E6D0-4288-D8ED-9E59-A26BCEF5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7D5F2D22-CD46-6802-D3CC-B714418C97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4949B6-C8D1-4D77-9694-EB151B8AF13F}" type="slidenum">
              <a:rPr lang="en-US" altLang="ko-KR">
                <a:solidFill>
                  <a:prstClr val="black"/>
                </a:solidFill>
              </a:rPr>
              <a:pPr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8AC9DDC3-D6D5-058A-BED2-115BD008CB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73E54A9-FBBC-F710-6864-ACD43851B3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7629" y="4721186"/>
            <a:ext cx="4991947" cy="4472702"/>
          </a:xfrm>
          <a:noFill/>
          <a:ln/>
        </p:spPr>
        <p:txBody>
          <a:bodyPr/>
          <a:lstStyle/>
          <a:p>
            <a:pPr eaLnBrk="1" hangingPunct="1"/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631755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AE85-AF13-4350-BD81-F212EC7D93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13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 flipH="1">
            <a:off x="13350" y="476672"/>
            <a:ext cx="9849542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006600"/>
                </a:gs>
                <a:gs pos="50000">
                  <a:srgbClr val="009900"/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 userDrawn="1"/>
        </p:nvSpPr>
        <p:spPr>
          <a:xfrm>
            <a:off x="4470" y="6585410"/>
            <a:ext cx="250025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i="1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빠르게</a:t>
            </a:r>
            <a:r>
              <a:rPr kumimoji="1" lang="ko-KR" altLang="en-US" sz="1100" b="1" i="1" dirty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kumimoji="1" lang="ko-KR" altLang="en-US" sz="1100" b="1" i="1" dirty="0">
                <a:solidFill>
                  <a:srgbClr val="008000"/>
                </a:solidFill>
                <a:latin typeface="HY견고딕" pitchFamily="18" charset="-127"/>
                <a:ea typeface="HY견고딕" pitchFamily="18" charset="-127"/>
              </a:rPr>
              <a:t>실행합시다</a:t>
            </a:r>
            <a:r>
              <a:rPr kumimoji="1" lang="en-US" altLang="ko-KR" sz="1100" b="1" i="1" dirty="0">
                <a:solidFill>
                  <a:srgbClr val="008000"/>
                </a:solidFill>
                <a:latin typeface="HY견고딕" pitchFamily="18" charset="-127"/>
                <a:ea typeface="HY견고딕" pitchFamily="18" charset="-127"/>
              </a:rPr>
              <a:t>!</a:t>
            </a:r>
            <a:endParaRPr kumimoji="1" lang="ko-KR" altLang="en-US" sz="1100" b="1" i="1" dirty="0">
              <a:solidFill>
                <a:srgbClr val="008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ㄴㅇㅁㄴㅇ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075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ㄴㅇㅁㄴㅇ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605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68"/>
          <p:cNvSpPr txBox="1">
            <a:spLocks noChangeArrowheads="1"/>
          </p:cNvSpPr>
          <p:nvPr/>
        </p:nvSpPr>
        <p:spPr bwMode="auto">
          <a:xfrm>
            <a:off x="5052" y="50480"/>
            <a:ext cx="5281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dirty="0">
                <a:latin typeface="LG Smart UI Light" panose="020B0300000101010101" pitchFamily="50" charset="-127"/>
                <a:ea typeface="LG스마트체 Regular"/>
              </a:rPr>
              <a:t>7</a:t>
            </a:r>
            <a:r>
              <a:rPr kumimoji="0" lang="ko-KR" altLang="en-US" dirty="0">
                <a:latin typeface="LG Smart UI Light" panose="020B0300000101010101" pitchFamily="50" charset="-127"/>
                <a:ea typeface="LG스마트체 Regular"/>
              </a:rPr>
              <a:t>월 경영실적</a:t>
            </a:r>
            <a:r>
              <a:rPr kumimoji="0" lang="en-US" altLang="ko-KR" dirty="0">
                <a:latin typeface="LG Smart UI Light" panose="020B0300000101010101" pitchFamily="50" charset="-127"/>
                <a:ea typeface="LG스마트체 Regular"/>
              </a:rPr>
              <a:t>_</a:t>
            </a:r>
            <a:r>
              <a:rPr kumimoji="0" lang="ko-KR" altLang="en-US" dirty="0">
                <a:latin typeface="LG Smart UI Light" panose="020B0300000101010101" pitchFamily="50" charset="-127"/>
                <a:ea typeface="LG스마트체 Regular"/>
              </a:rPr>
              <a:t>일산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997961"/>
              </p:ext>
            </p:extLst>
          </p:nvPr>
        </p:nvGraphicFramePr>
        <p:xfrm>
          <a:off x="200470" y="650836"/>
          <a:ext cx="9505058" cy="597230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99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0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5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46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78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46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46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152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Insulation</a:t>
                      </a:r>
                    </a:p>
                    <a:p>
                      <a:pPr algn="ctr" fontAlgn="ctr"/>
                      <a:br>
                        <a:rPr 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</a:br>
                      <a:r>
                        <a:rPr 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  </a:t>
                      </a:r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금액                </a:t>
                      </a:r>
                      <a:r>
                        <a:rPr lang="en-US" altLang="ko-KR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유전체</a:t>
                      </a:r>
                      <a:endParaRPr lang="en-US" altLang="ko-KR" sz="1100" b="1" u="none" strike="noStrike" dirty="0"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  <a:p>
                      <a:pPr algn="ctr" fontAlgn="ctr"/>
                      <a:b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</a:br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   금액               </a:t>
                      </a:r>
                      <a:r>
                        <a:rPr lang="en-US" altLang="ko-KR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탈취</a:t>
                      </a:r>
                      <a:endParaRPr lang="en-US" altLang="ko-KR" sz="1100" b="1" u="none" strike="noStrike" dirty="0"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  <a:p>
                      <a:pPr algn="ctr" fontAlgn="ctr"/>
                      <a:b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</a:br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금액               </a:t>
                      </a:r>
                      <a:r>
                        <a:rPr lang="en-US" altLang="ko-KR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밀레니얼</a:t>
                      </a:r>
                      <a:endParaRPr lang="en-US" sz="1100" b="1" u="none" strike="noStrike" dirty="0"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  <a:p>
                      <a:pPr algn="ctr" fontAlgn="ctr"/>
                      <a:br>
                        <a:rPr 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</a:br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금액               </a:t>
                      </a:r>
                      <a:r>
                        <a:rPr lang="en-US" altLang="ko-KR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합계</a:t>
                      </a:r>
                      <a:endParaRPr lang="en-US" altLang="ko-KR" sz="1100" b="1" u="none" strike="noStrike" dirty="0"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  <a:p>
                      <a:pPr algn="ctr" fontAlgn="ctr"/>
                      <a:b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</a:br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금액                  </a:t>
                      </a:r>
                      <a:r>
                        <a:rPr lang="en-US" altLang="ko-KR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7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매출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제품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2,177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455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2,996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상품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합계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2,177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455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2,996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7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생산액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2,174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433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2,922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67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제조원가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재료비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1,668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76.7%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66.2%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62.0%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80.0%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2,217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75.9%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노무비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5.6%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19.4%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9.7%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6.2%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제조경비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7.4%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8.5%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0.3%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합계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1,856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85.3%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93.0%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80.2%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83.5%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2,491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85.3%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67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제품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매출원가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1,859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85.4%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83.4%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85.1%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매출총이익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14.6%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8.3%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23.5%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16.6%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448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14.9%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판매관리비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7.6%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7.0%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10.8%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6.2%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7.5%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영업이익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7.0%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1.3%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12.7%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7.4%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67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영업 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수익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비용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합계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67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세전이익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8.2%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2.3%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14.4%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11.5%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8.6%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673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 dirty="0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 dirty="0"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91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전년</a:t>
                      </a:r>
                      <a:b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</a:br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동월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제품매출액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1,997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509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511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3,161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영업이익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6.5%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11.6%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12.1%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11.4%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8.4%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67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전년대비</a:t>
                      </a:r>
                      <a:b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</a:br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증감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제품매출액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9.0%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-299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-58.7%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6.4%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-10.9%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-5.2%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영업이익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5244" marR="5244" marT="524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17.9%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-95.5%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11.5%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-18.3%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/>
                          <a:ea typeface="돋움" panose="020B0600000101010101" pitchFamily="50" charset="-127"/>
                        </a:rPr>
                        <a:t>-15.9%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697416" y="175877"/>
            <a:ext cx="1152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>
                <a:latin typeface="LG Smart UI Regular" panose="020B0500000101010101" pitchFamily="50" charset="-127"/>
                <a:ea typeface="LG스마트체 Regular"/>
              </a:rPr>
              <a:t>원화 단위 </a:t>
            </a:r>
            <a:r>
              <a:rPr lang="en-US" altLang="ko-KR" sz="1000" b="1" dirty="0">
                <a:latin typeface="LG Smart UI Regular" panose="020B0500000101010101" pitchFamily="50" charset="-127"/>
                <a:ea typeface="LG스마트체 Regular"/>
              </a:rPr>
              <a:t>: </a:t>
            </a:r>
            <a:r>
              <a:rPr lang="ko-KR" altLang="en-US" sz="1000" b="1" dirty="0">
                <a:latin typeface="LG Smart UI Regular" panose="020B0500000101010101" pitchFamily="50" charset="-127"/>
                <a:ea typeface="LG스마트체 Regular"/>
              </a:rPr>
              <a:t>백만</a:t>
            </a:r>
          </a:p>
        </p:txBody>
      </p:sp>
      <p:sp>
        <p:nvSpPr>
          <p:cNvPr id="25" name="타원 24"/>
          <p:cNvSpPr/>
          <p:nvPr/>
        </p:nvSpPr>
        <p:spPr>
          <a:xfrm>
            <a:off x="2665370" y="1727864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4122224" y="1739500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5733868" y="1739617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7113240" y="1734007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8661986" y="1734007"/>
            <a:ext cx="75551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7888" y="1317010"/>
            <a:ext cx="15739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ea typeface="LG스마트체 Regular"/>
              </a:rPr>
              <a:t>(</a:t>
            </a:r>
            <a:r>
              <a:rPr lang="ko-KR" altLang="en-US" sz="800" b="1" dirty="0">
                <a:ea typeface="LG스마트체 Regular"/>
              </a:rPr>
              <a:t>자작 금액 </a:t>
            </a:r>
            <a:r>
              <a:rPr lang="en-US" altLang="ko-KR" sz="800" b="1" dirty="0">
                <a:ea typeface="LG스마트체 Regular"/>
              </a:rPr>
              <a:t>14</a:t>
            </a:r>
            <a:r>
              <a:rPr lang="ko-KR" altLang="en-US" sz="800" b="1" dirty="0">
                <a:ea typeface="LG스마트체 Regular"/>
              </a:rPr>
              <a:t>백만원 별도</a:t>
            </a:r>
            <a:r>
              <a:rPr lang="en-US" altLang="ko-KR" sz="800" b="1" dirty="0">
                <a:ea typeface="LG스마트체 Regular"/>
              </a:rPr>
              <a:t>) </a:t>
            </a:r>
            <a:endParaRPr lang="ko-KR" altLang="en-US" sz="800" b="1" dirty="0">
              <a:ea typeface="LG스마트체 Regula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79970" y="6599720"/>
            <a:ext cx="741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 Regular" pitchFamily="50" charset="-127"/>
                <a:ea typeface="LG스마트체 Regular"/>
              </a:rPr>
              <a:t>1/10</a:t>
            </a:r>
            <a:endParaRPr lang="ko-KR" altLang="en-US" sz="1000" dirty="0">
              <a:solidFill>
                <a:prstClr val="black"/>
              </a:solidFill>
              <a:latin typeface="LG스마트체 Regular" pitchFamily="50" charset="-127"/>
              <a:ea typeface="LG스마트체 Regular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816280D-F74F-F650-9C38-214C72315123}"/>
              </a:ext>
            </a:extLst>
          </p:cNvPr>
          <p:cNvSpPr/>
          <p:nvPr/>
        </p:nvSpPr>
        <p:spPr>
          <a:xfrm>
            <a:off x="2680578" y="4094112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A7AB26F-D3D8-9501-AE78-FA5917E9C9BF}"/>
              </a:ext>
            </a:extLst>
          </p:cNvPr>
          <p:cNvSpPr/>
          <p:nvPr/>
        </p:nvSpPr>
        <p:spPr>
          <a:xfrm>
            <a:off x="4137432" y="4105748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7C15B32-F446-801F-58A3-10BAC730D3D9}"/>
              </a:ext>
            </a:extLst>
          </p:cNvPr>
          <p:cNvSpPr/>
          <p:nvPr/>
        </p:nvSpPr>
        <p:spPr>
          <a:xfrm>
            <a:off x="5673080" y="4105865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02029F9-22F8-60AC-8E65-26D0C8A0B617}"/>
              </a:ext>
            </a:extLst>
          </p:cNvPr>
          <p:cNvSpPr/>
          <p:nvPr/>
        </p:nvSpPr>
        <p:spPr>
          <a:xfrm>
            <a:off x="7128448" y="4100255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EC84201-925D-1E4C-2F95-AD36D01077D9}"/>
              </a:ext>
            </a:extLst>
          </p:cNvPr>
          <p:cNvSpPr/>
          <p:nvPr/>
        </p:nvSpPr>
        <p:spPr>
          <a:xfrm>
            <a:off x="8677194" y="4100255"/>
            <a:ext cx="75551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FE79903-6360-33AA-1BF2-6BF9A932FFBF}"/>
              </a:ext>
            </a:extLst>
          </p:cNvPr>
          <p:cNvSpPr/>
          <p:nvPr/>
        </p:nvSpPr>
        <p:spPr>
          <a:xfrm>
            <a:off x="2671050" y="6369575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888A3B-48E0-20F5-B841-782D97CA2E82}"/>
              </a:ext>
            </a:extLst>
          </p:cNvPr>
          <p:cNvSpPr/>
          <p:nvPr/>
        </p:nvSpPr>
        <p:spPr>
          <a:xfrm>
            <a:off x="4064053" y="6369575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7D55484-3710-65EC-F545-7F27FA5F6AAB}"/>
              </a:ext>
            </a:extLst>
          </p:cNvPr>
          <p:cNvSpPr/>
          <p:nvPr/>
        </p:nvSpPr>
        <p:spPr>
          <a:xfrm>
            <a:off x="5612799" y="6383696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3167821-D6DC-9418-A044-32C8440682CB}"/>
              </a:ext>
            </a:extLst>
          </p:cNvPr>
          <p:cNvSpPr/>
          <p:nvPr/>
        </p:nvSpPr>
        <p:spPr>
          <a:xfrm>
            <a:off x="7041232" y="6375718"/>
            <a:ext cx="72008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0587AC7-7D4F-4EFE-2AC1-EBC81ABF0546}"/>
              </a:ext>
            </a:extLst>
          </p:cNvPr>
          <p:cNvSpPr/>
          <p:nvPr/>
        </p:nvSpPr>
        <p:spPr>
          <a:xfrm>
            <a:off x="8589978" y="6375718"/>
            <a:ext cx="755510" cy="216024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LG스마트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60711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D113-1268-F7DA-A80C-563CEB68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8">
            <a:extLst>
              <a:ext uri="{FF2B5EF4-FFF2-40B4-BE49-F238E27FC236}">
                <a16:creationId xmlns:a16="http://schemas.microsoft.com/office/drawing/2014/main" id="{AA668098-965D-2033-ECFC-FB641B9BC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" y="50480"/>
            <a:ext cx="5281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dirty="0">
                <a:latin typeface="LG Smart UI Light" panose="020B0300000101010101" pitchFamily="50" charset="-127"/>
                <a:ea typeface="LG스마트체 Regular"/>
              </a:rPr>
              <a:t>월간 경영실적</a:t>
            </a:r>
            <a:r>
              <a:rPr lang="en-US" altLang="ko-KR" dirty="0">
                <a:latin typeface="LG Smart UI Light" panose="020B0300000101010101" pitchFamily="50" charset="-127"/>
                <a:ea typeface="LG스마트체 Regular"/>
              </a:rPr>
              <a:t>_</a:t>
            </a:r>
            <a:r>
              <a:rPr lang="ko-KR" altLang="en-US" dirty="0">
                <a:latin typeface="LG Smart UI Light" panose="020B0300000101010101" pitchFamily="50" charset="-127"/>
                <a:ea typeface="LG스마트체 Regular"/>
              </a:rPr>
              <a:t>일산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8B20A1-DEB1-BA30-4B65-5BAFC16C93B2}"/>
              </a:ext>
            </a:extLst>
          </p:cNvPr>
          <p:cNvSpPr txBox="1"/>
          <p:nvPr/>
        </p:nvSpPr>
        <p:spPr>
          <a:xfrm>
            <a:off x="-232" y="498768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매출액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스마트체 Regula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873C17-09FF-AE9E-611F-4576B3A81760}"/>
              </a:ext>
            </a:extLst>
          </p:cNvPr>
          <p:cNvSpPr txBox="1"/>
          <p:nvPr/>
        </p:nvSpPr>
        <p:spPr>
          <a:xfrm>
            <a:off x="5052" y="3256279"/>
            <a:ext cx="14195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영업이익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스마트체 Regula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6FFA5-E96C-619A-E379-82F6B0CBFDAE}"/>
              </a:ext>
            </a:extLst>
          </p:cNvPr>
          <p:cNvSpPr txBox="1"/>
          <p:nvPr/>
        </p:nvSpPr>
        <p:spPr>
          <a:xfrm>
            <a:off x="8894390" y="1916832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백만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3A392F-AF1A-3CB2-9291-0EA5B19E1388}"/>
              </a:ext>
            </a:extLst>
          </p:cNvPr>
          <p:cNvSpPr txBox="1"/>
          <p:nvPr/>
        </p:nvSpPr>
        <p:spPr>
          <a:xfrm>
            <a:off x="8841432" y="4686388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백만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56AD9A91-D4BB-5C86-B22F-A6D4F5805498}"/>
              </a:ext>
            </a:extLst>
          </p:cNvPr>
          <p:cNvSpPr txBox="1"/>
          <p:nvPr/>
        </p:nvSpPr>
        <p:spPr>
          <a:xfrm>
            <a:off x="8103877" y="4408633"/>
            <a:ext cx="1573813" cy="24450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25</a:t>
            </a:r>
            <a:r>
              <a:rPr lang="ko-KR" altLang="en-US" sz="9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년 </a:t>
            </a:r>
            <a:r>
              <a:rPr lang="en-US" altLang="ko-KR" sz="9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12</a:t>
            </a:r>
            <a:r>
              <a:rPr lang="ko-KR" altLang="en-US" sz="9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월 </a:t>
            </a:r>
            <a:r>
              <a:rPr lang="ko-KR" altLang="en-US" sz="900" dirty="0" err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이익율</a:t>
            </a:r>
            <a:r>
              <a:rPr lang="ko-KR" altLang="en-US" sz="9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9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</a:t>
            </a:r>
            <a:r>
              <a:rPr lang="ko-KR" altLang="en-US" sz="9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9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-3.5%</a:t>
            </a:r>
            <a:endParaRPr lang="en-US" altLang="ko-KR" sz="900" baseline="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1FB90A-F781-56AD-AD8C-39A41BBB1154}"/>
              </a:ext>
            </a:extLst>
          </p:cNvPr>
          <p:cNvSpPr txBox="1"/>
          <p:nvPr/>
        </p:nvSpPr>
        <p:spPr>
          <a:xfrm>
            <a:off x="4679970" y="6599720"/>
            <a:ext cx="741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 Regular" pitchFamily="50" charset="-127"/>
                <a:ea typeface="LG스마트체 Regular"/>
              </a:rPr>
              <a:t>2/10</a:t>
            </a:r>
            <a:endParaRPr lang="ko-KR" altLang="en-US" sz="1000" dirty="0">
              <a:solidFill>
                <a:prstClr val="black"/>
              </a:solidFill>
              <a:latin typeface="LG스마트체 Regular" pitchFamily="50" charset="-127"/>
              <a:ea typeface="LG스마트체 Regular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87E514F-CF66-E120-E8AD-24C05580D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320005"/>
              </p:ext>
            </p:extLst>
          </p:nvPr>
        </p:nvGraphicFramePr>
        <p:xfrm>
          <a:off x="109419" y="4908352"/>
          <a:ext cx="9668117" cy="1631197"/>
        </p:xfrm>
        <a:graphic>
          <a:graphicData uri="http://schemas.openxmlformats.org/drawingml/2006/table">
            <a:tbl>
              <a:tblPr/>
              <a:tblGrid>
                <a:gridCol w="379713">
                  <a:extLst>
                    <a:ext uri="{9D8B030D-6E8A-4147-A177-3AD203B41FA5}">
                      <a16:colId xmlns:a16="http://schemas.microsoft.com/office/drawing/2014/main" val="3033555106"/>
                    </a:ext>
                  </a:extLst>
                </a:gridCol>
                <a:gridCol w="309613">
                  <a:extLst>
                    <a:ext uri="{9D8B030D-6E8A-4147-A177-3AD203B41FA5}">
                      <a16:colId xmlns:a16="http://schemas.microsoft.com/office/drawing/2014/main" val="4054387117"/>
                    </a:ext>
                  </a:extLst>
                </a:gridCol>
                <a:gridCol w="309613">
                  <a:extLst>
                    <a:ext uri="{9D8B030D-6E8A-4147-A177-3AD203B41FA5}">
                      <a16:colId xmlns:a16="http://schemas.microsoft.com/office/drawing/2014/main" val="303147209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802283921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45575869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46352836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322958136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3302963659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750972055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1139816737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1339809090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1099170064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628304307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93441648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1306181967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365168595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3103814094"/>
                    </a:ext>
                  </a:extLst>
                </a:gridCol>
              </a:tblGrid>
              <a:tr h="295748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616302"/>
                  </a:ext>
                </a:extLst>
              </a:tr>
              <a:tr h="16321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-3.5%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7.8%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604311"/>
                  </a:ext>
                </a:extLst>
              </a:tr>
              <a:tr h="1632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312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479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408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390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297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-86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2,769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2,253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112377"/>
                  </a:ext>
                </a:extLst>
              </a:tr>
              <a:tr h="19297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752195"/>
                  </a:ext>
                </a:extLst>
              </a:tr>
              <a:tr h="1632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372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397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367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319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322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3,507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2,337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604968"/>
                  </a:ext>
                </a:extLst>
              </a:tr>
              <a:tr h="1632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9.8%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(3.3%)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788859"/>
                  </a:ext>
                </a:extLst>
              </a:tr>
              <a:tr h="1632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346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213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(72)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1,547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756558"/>
                  </a:ext>
                </a:extLst>
              </a:tr>
              <a:tr h="16321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달성율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124.2%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79.2%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93.1%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53.7%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32.5%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37.3%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60.6%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66.2%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466651"/>
                  </a:ext>
                </a:extLst>
              </a:tr>
              <a:tr h="16321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-287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-63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-177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-74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-50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-74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-706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708664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FF035A8-466B-5E01-977E-B53B9E8B7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729877"/>
              </p:ext>
            </p:extLst>
          </p:nvPr>
        </p:nvGraphicFramePr>
        <p:xfrm>
          <a:off x="128474" y="2143621"/>
          <a:ext cx="9669009" cy="1100949"/>
        </p:xfrm>
        <a:graphic>
          <a:graphicData uri="http://schemas.openxmlformats.org/drawingml/2006/table">
            <a:tbl>
              <a:tblPr/>
              <a:tblGrid>
                <a:gridCol w="379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3791858295"/>
                    </a:ext>
                  </a:extLst>
                </a:gridCol>
              </a:tblGrid>
              <a:tr h="29343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0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3,311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3,791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3,508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3,278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2,598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2,740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3,161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2,145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2,460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2,581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2,713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2,392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34,679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22,389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3,042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2,805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3,367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3,345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3,075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3,240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3,309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2,422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2,952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3,028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3,073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2,343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36,000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22,183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3,407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2,842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3,188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2,570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2,329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2,518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2,996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(2,218)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19,850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0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달성율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112.0%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101.3%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94.7%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76.8%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75.7%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77.7%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90.6%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(91.6%)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89.5%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0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-949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-321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-707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-269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-222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-165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-2,539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1" name="그림 30">
            <a:extLst>
              <a:ext uri="{FF2B5EF4-FFF2-40B4-BE49-F238E27FC236}">
                <a16:creationId xmlns:a16="http://schemas.microsoft.com/office/drawing/2014/main" id="{C3780BE8-39BF-5ECC-9CDF-F13AB6A0D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797" y="238738"/>
            <a:ext cx="2066086" cy="169458"/>
          </a:xfrm>
          <a:prstGeom prst="rect">
            <a:avLst/>
          </a:prstGeom>
        </p:spPr>
      </p:pic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B9FEF318-6283-40F6-B40D-B41901A04B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325003"/>
              </p:ext>
            </p:extLst>
          </p:nvPr>
        </p:nvGraphicFramePr>
        <p:xfrm>
          <a:off x="298203" y="542386"/>
          <a:ext cx="8903269" cy="1766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0">
            <a:extLst>
              <a:ext uri="{FF2B5EF4-FFF2-40B4-BE49-F238E27FC236}">
                <a16:creationId xmlns:a16="http://schemas.microsoft.com/office/drawing/2014/main" id="{2EC93200-40DB-2F3A-E05F-73B0B8B75FA9}"/>
              </a:ext>
            </a:extLst>
          </p:cNvPr>
          <p:cNvSpPr txBox="1"/>
          <p:nvPr/>
        </p:nvSpPr>
        <p:spPr>
          <a:xfrm>
            <a:off x="8011450" y="690909"/>
            <a:ext cx="1758665" cy="392181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800" b="0" dirty="0">
                <a:solidFill>
                  <a:schemeClr val="dk1"/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+mn-cs"/>
              </a:rPr>
              <a:t>탈취필터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ko-KR" altLang="ko-KR" sz="800" b="0" dirty="0">
                <a:solidFill>
                  <a:schemeClr val="dk1"/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+mn-cs"/>
              </a:rPr>
              <a:t>자작 금액 </a:t>
            </a:r>
            <a:r>
              <a:rPr lang="en-US" altLang="ko-KR" sz="800" b="0" dirty="0">
                <a:solidFill>
                  <a:schemeClr val="dk1"/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+mn-cs"/>
              </a:rPr>
              <a:t>: 14</a:t>
            </a:r>
            <a:r>
              <a:rPr lang="ko-KR" altLang="en-US" sz="800" b="0" dirty="0">
                <a:solidFill>
                  <a:schemeClr val="dk1"/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+mn-cs"/>
              </a:rPr>
              <a:t>백만</a:t>
            </a:r>
            <a:r>
              <a:rPr lang="ko-KR" altLang="ko-KR" sz="800" b="0" dirty="0">
                <a:solidFill>
                  <a:schemeClr val="dk1"/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+mn-cs"/>
              </a:rPr>
              <a:t> 별도</a:t>
            </a:r>
            <a:endParaRPr lang="en-US" altLang="ko-KR" sz="800" b="0" dirty="0">
              <a:solidFill>
                <a:schemeClr val="dk1"/>
              </a:solidFill>
              <a:effectLst/>
              <a:latin typeface="LG Smart UI Regular" panose="020B0500000101010101" pitchFamily="50" charset="-127"/>
              <a:ea typeface="LG Smart UI Regular" panose="020B0500000101010101" pitchFamily="50" charset="-127"/>
              <a:cs typeface="+mn-cs"/>
            </a:endParaRPr>
          </a:p>
          <a:p>
            <a:r>
              <a:rPr lang="en-US" altLang="ko-KR" sz="800" b="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26</a:t>
            </a:r>
            <a:r>
              <a:rPr lang="ko-KR" altLang="en-US" sz="800" b="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년 누적 </a:t>
            </a:r>
            <a:r>
              <a:rPr lang="en-US" altLang="ko-KR" sz="800" b="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262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</a:t>
            </a:r>
            <a:endParaRPr lang="en-US" altLang="ko-KR" sz="800" b="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endParaRPr lang="ko-KR" altLang="ko-KR" sz="800" b="0" dirty="0">
              <a:effectLst/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CC4B03DB-846A-4705-92D8-9D25925957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4955632"/>
              </p:ext>
            </p:extLst>
          </p:nvPr>
        </p:nvGraphicFramePr>
        <p:xfrm>
          <a:off x="289566" y="3059303"/>
          <a:ext cx="8903268" cy="1831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5058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9D34-A3C1-6797-B9F9-1B282FEF8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68">
            <a:extLst>
              <a:ext uri="{FF2B5EF4-FFF2-40B4-BE49-F238E27FC236}">
                <a16:creationId xmlns:a16="http://schemas.microsoft.com/office/drawing/2014/main" id="{0461FB81-85CB-343C-4800-08FFF9D77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4" y="44624"/>
            <a:ext cx="5281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dirty="0">
                <a:latin typeface="LG Smart UI Light" panose="020B0300000101010101" pitchFamily="50" charset="-127"/>
                <a:ea typeface="LG스마트체 Regular"/>
              </a:rPr>
              <a:t>월간 경영실적</a:t>
            </a:r>
            <a:r>
              <a:rPr lang="en-US" altLang="ko-KR" dirty="0">
                <a:latin typeface="LG Smart UI Light" panose="020B0300000101010101" pitchFamily="50" charset="-127"/>
                <a:ea typeface="LG스마트체 Regular"/>
              </a:rPr>
              <a:t>_</a:t>
            </a:r>
            <a:r>
              <a:rPr lang="ko-KR" altLang="en-US" dirty="0">
                <a:latin typeface="LG Smart UI Light" panose="020B0300000101010101" pitchFamily="50" charset="-127"/>
                <a:ea typeface="LG스마트체 Regular"/>
              </a:rPr>
              <a:t>일산</a:t>
            </a:r>
            <a:r>
              <a:rPr lang="en-US" altLang="ko-KR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(Insulation)</a:t>
            </a:r>
            <a:endParaRPr lang="ko-KR" altLang="en-US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646D95-693D-229E-8394-4A278F2660C3}"/>
              </a:ext>
            </a:extLst>
          </p:cNvPr>
          <p:cNvSpPr txBox="1"/>
          <p:nvPr/>
        </p:nvSpPr>
        <p:spPr>
          <a:xfrm>
            <a:off x="-3442" y="459410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매출액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스마트체 Regula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653242-3B82-2479-3EEC-E4A606439740}"/>
              </a:ext>
            </a:extLst>
          </p:cNvPr>
          <p:cNvSpPr txBox="1"/>
          <p:nvPr/>
        </p:nvSpPr>
        <p:spPr>
          <a:xfrm>
            <a:off x="6282" y="4320654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영업이익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스마트체 Regula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12492E-F56D-C945-B6C0-3EC3F1C30363}"/>
              </a:ext>
            </a:extLst>
          </p:cNvPr>
          <p:cNvSpPr txBox="1"/>
          <p:nvPr/>
        </p:nvSpPr>
        <p:spPr>
          <a:xfrm>
            <a:off x="8755158" y="1256060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백만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B232A4-FACB-2C53-C82C-B992D97AB7F9}"/>
              </a:ext>
            </a:extLst>
          </p:cNvPr>
          <p:cNvSpPr txBox="1"/>
          <p:nvPr/>
        </p:nvSpPr>
        <p:spPr>
          <a:xfrm>
            <a:off x="8816840" y="5058054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백만</a:t>
            </a:r>
          </a:p>
        </p:txBody>
      </p:sp>
      <p:sp>
        <p:nvSpPr>
          <p:cNvPr id="48" name="TextBox 5">
            <a:extLst>
              <a:ext uri="{FF2B5EF4-FFF2-40B4-BE49-F238E27FC236}">
                <a16:creationId xmlns:a16="http://schemas.microsoft.com/office/drawing/2014/main" id="{D4B31609-D1B4-3E23-876F-112DAAEC0E8F}"/>
              </a:ext>
            </a:extLst>
          </p:cNvPr>
          <p:cNvSpPr txBox="1"/>
          <p:nvPr/>
        </p:nvSpPr>
        <p:spPr>
          <a:xfrm>
            <a:off x="8141546" y="4467680"/>
            <a:ext cx="1507779" cy="23300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25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년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12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월 </a:t>
            </a:r>
            <a:r>
              <a:rPr lang="ko-KR" altLang="en-US" sz="800" dirty="0" err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이익율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-5.9%</a:t>
            </a:r>
            <a:endParaRPr lang="en-US" altLang="ko-KR" sz="800" baseline="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979F4-BEA2-4DFD-5332-7C2D797D158F}"/>
              </a:ext>
            </a:extLst>
          </p:cNvPr>
          <p:cNvSpPr txBox="1"/>
          <p:nvPr/>
        </p:nvSpPr>
        <p:spPr>
          <a:xfrm>
            <a:off x="4679970" y="6599720"/>
            <a:ext cx="741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 Regular" pitchFamily="50" charset="-127"/>
                <a:ea typeface="LG스마트체 Regular"/>
              </a:rPr>
              <a:t>3/10</a:t>
            </a:r>
            <a:endParaRPr lang="ko-KR" altLang="en-US" sz="1000" dirty="0">
              <a:solidFill>
                <a:prstClr val="black"/>
              </a:solidFill>
              <a:latin typeface="LG스마트체 Regular" pitchFamily="50" charset="-127"/>
              <a:ea typeface="LG스마트체 Regular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7E53AD2-0F59-9EF6-0BE9-BAC2B345E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318670"/>
              </p:ext>
            </p:extLst>
          </p:nvPr>
        </p:nvGraphicFramePr>
        <p:xfrm>
          <a:off x="142241" y="1484784"/>
          <a:ext cx="9669009" cy="843943"/>
        </p:xfrm>
        <a:graphic>
          <a:graphicData uri="http://schemas.openxmlformats.org/drawingml/2006/table">
            <a:tbl>
              <a:tblPr/>
              <a:tblGrid>
                <a:gridCol w="379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3756220262"/>
                    </a:ext>
                  </a:extLst>
                </a:gridCol>
              </a:tblGrid>
              <a:tr h="13802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02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1,915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2,048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2,038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1,991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1,852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1,715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1,997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1,572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1,988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1,669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1,885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1,673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22,342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13,555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21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2,043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1,743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2,051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2,145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1,858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2,147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2,243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1,512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1,975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1,947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2,046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1,648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23,354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14,228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1,990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1,679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1,823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1,597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1,624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1,770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2,177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(1,787)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12,660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02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달성율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97.4%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96.4%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88.9%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74.5%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87.4%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82.4%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97.1%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(118.2%)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89.0%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64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-368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-215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-394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-228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-896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21346FB-6432-2113-E967-83CE1891C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095715"/>
              </p:ext>
            </p:extLst>
          </p:nvPr>
        </p:nvGraphicFramePr>
        <p:xfrm>
          <a:off x="137140" y="3470981"/>
          <a:ext cx="9649071" cy="819462"/>
        </p:xfrm>
        <a:graphic>
          <a:graphicData uri="http://schemas.openxmlformats.org/drawingml/2006/table">
            <a:tbl>
              <a:tblPr/>
              <a:tblGrid>
                <a:gridCol w="378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245214958"/>
                    </a:ext>
                  </a:extLst>
                </a:gridCol>
              </a:tblGrid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7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73.8%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73.9%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(76.5%)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-1.3%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1.0%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-1.2%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1.5%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0.6%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0.1%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-3.0%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-0.6%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-1.2%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-1.3%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-0.7%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-2.1%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0.3%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B0A09603-545C-4056-1CED-7416DFAFB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63469"/>
              </p:ext>
            </p:extLst>
          </p:nvPr>
        </p:nvGraphicFramePr>
        <p:xfrm>
          <a:off x="128474" y="5256237"/>
          <a:ext cx="9668117" cy="1343486"/>
        </p:xfrm>
        <a:graphic>
          <a:graphicData uri="http://schemas.openxmlformats.org/drawingml/2006/table">
            <a:tbl>
              <a:tblPr/>
              <a:tblGrid>
                <a:gridCol w="37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59897717"/>
                    </a:ext>
                  </a:extLst>
                </a:gridCol>
              </a:tblGrid>
              <a:tr h="20223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5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7.8%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7.1%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4.1%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5.1%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-5.9%</a:t>
                      </a:r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6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-100</a:t>
                      </a:r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1,113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812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65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6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201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1,602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1,087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6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(3%)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6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(54)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712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65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달성율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128.2%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91.9%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53.6%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21.0%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65.5%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265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-90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-78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-100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3F2F32E-CDC3-996C-E254-67F7D1DB74FC}"/>
              </a:ext>
            </a:extLst>
          </p:cNvPr>
          <p:cNvSpPr txBox="1"/>
          <p:nvPr/>
        </p:nvSpPr>
        <p:spPr>
          <a:xfrm>
            <a:off x="-63531" y="2338437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재료비율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스마트체 Regular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46BC77-E758-E5D1-A548-927F62DBD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797" y="238738"/>
            <a:ext cx="2066086" cy="169458"/>
          </a:xfrm>
          <a:prstGeom prst="rect">
            <a:avLst/>
          </a:prstGeom>
        </p:spPr>
      </p:pic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BECA9551-A2D0-4FDF-BCD2-EA488F9E88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011082"/>
              </p:ext>
            </p:extLst>
          </p:nvPr>
        </p:nvGraphicFramePr>
        <p:xfrm>
          <a:off x="579573" y="301238"/>
          <a:ext cx="8765915" cy="1290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30">
            <a:extLst>
              <a:ext uri="{FF2B5EF4-FFF2-40B4-BE49-F238E27FC236}">
                <a16:creationId xmlns:a16="http://schemas.microsoft.com/office/drawing/2014/main" id="{0D803F96-6749-BEB3-5C0C-8EF239A26D4B}"/>
              </a:ext>
            </a:extLst>
          </p:cNvPr>
          <p:cNvSpPr txBox="1"/>
          <p:nvPr/>
        </p:nvSpPr>
        <p:spPr>
          <a:xfrm>
            <a:off x="8062926" y="450308"/>
            <a:ext cx="1786957" cy="478089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INS</a:t>
            </a:r>
            <a:r>
              <a:rPr lang="ko-KR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자작 금액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 X</a:t>
            </a:r>
          </a:p>
          <a:p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26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년 누적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58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</a:t>
            </a:r>
            <a:endParaRPr lang="en-US" altLang="ko-KR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태국 반품 재작업 포함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9.6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백만원</a:t>
            </a:r>
            <a:endParaRPr lang="en-US" altLang="ko-KR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582AC17C-7447-4B00-8DF7-23291018CE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4045724"/>
              </p:ext>
            </p:extLst>
          </p:nvPr>
        </p:nvGraphicFramePr>
        <p:xfrm>
          <a:off x="600306" y="2096100"/>
          <a:ext cx="8599864" cy="1423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8" name="TextBox 30">
            <a:extLst>
              <a:ext uri="{FF2B5EF4-FFF2-40B4-BE49-F238E27FC236}">
                <a16:creationId xmlns:a16="http://schemas.microsoft.com/office/drawing/2014/main" id="{E9FB854A-484E-E4E9-C53E-E6C14AF4F52B}"/>
              </a:ext>
            </a:extLst>
          </p:cNvPr>
          <p:cNvSpPr txBox="1"/>
          <p:nvPr/>
        </p:nvSpPr>
        <p:spPr>
          <a:xfrm>
            <a:off x="7893710" y="2422425"/>
            <a:ext cx="1878284" cy="673913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 err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네오스텍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4.0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백만원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엔지니어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)↑</a:t>
            </a:r>
          </a:p>
          <a:p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영업 판가 현실화 인상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 159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백만원↓</a:t>
            </a:r>
            <a:endParaRPr lang="en-US" altLang="ko-KR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신성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,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신신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,</a:t>
            </a:r>
            <a:r>
              <a:rPr lang="ko-KR" altLang="en-US" sz="800" dirty="0" err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세일등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미완료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)</a:t>
            </a:r>
            <a:endParaRPr lang="ko-KR" alt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자재 매입가 인상 </a:t>
            </a:r>
            <a:r>
              <a:rPr lang="en-US" altLang="ko-KR" sz="800" dirty="0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 169</a:t>
            </a:r>
            <a:r>
              <a:rPr lang="ko-KR" altLang="en-US" sz="800" dirty="0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백만원↑</a:t>
            </a:r>
            <a:endParaRPr lang="en-US" altLang="ko-KR" sz="800" dirty="0">
              <a:solidFill>
                <a:schemeClr val="tx1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Total 14</a:t>
            </a:r>
            <a:r>
              <a:rPr lang="ko-KR" altLang="en-US" sz="800" dirty="0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백만원 </a:t>
            </a:r>
            <a:r>
              <a:rPr lang="en-US" altLang="ko-KR" sz="800" dirty="0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(0.6%↑) </a:t>
            </a:r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6763D46E-9189-452A-8A05-A69B02AA65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5645650"/>
              </p:ext>
            </p:extLst>
          </p:nvPr>
        </p:nvGraphicFramePr>
        <p:xfrm>
          <a:off x="325840" y="4302866"/>
          <a:ext cx="8708259" cy="1046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15717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0709-A741-BF79-479A-A4DFB0EE0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68">
            <a:extLst>
              <a:ext uri="{FF2B5EF4-FFF2-40B4-BE49-F238E27FC236}">
                <a16:creationId xmlns:a16="http://schemas.microsoft.com/office/drawing/2014/main" id="{1EF84C7B-6969-1591-D2AC-AEE0C6233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760" y="41688"/>
            <a:ext cx="5281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dirty="0">
                <a:latin typeface="맑은 고딕" pitchFamily="50" charset="-127"/>
                <a:ea typeface="LG스마트체 Regular"/>
              </a:rPr>
              <a:t>월간 경영실적</a:t>
            </a:r>
            <a:r>
              <a:rPr lang="en-US" altLang="ko-KR" dirty="0">
                <a:latin typeface="맑은 고딕" pitchFamily="50" charset="-127"/>
                <a:ea typeface="LG스마트체 Regular"/>
              </a:rPr>
              <a:t>_</a:t>
            </a:r>
            <a:r>
              <a:rPr lang="ko-KR" altLang="en-US" dirty="0">
                <a:latin typeface="맑은 고딕" pitchFamily="50" charset="-127"/>
                <a:ea typeface="LG스마트체 Regular"/>
              </a:rPr>
              <a:t>일산</a:t>
            </a:r>
            <a:r>
              <a:rPr lang="en-US" altLang="ko-KR" dirty="0">
                <a:latin typeface="맑은 고딕" pitchFamily="50" charset="-127"/>
                <a:ea typeface="LG스마트체 Regular"/>
              </a:rPr>
              <a:t>(</a:t>
            </a:r>
            <a:r>
              <a:rPr lang="ko-KR" altLang="en-US" dirty="0">
                <a:latin typeface="맑은 고딕" pitchFamily="50" charset="-127"/>
                <a:ea typeface="LG스마트체 Regular"/>
              </a:rPr>
              <a:t>유전체 필터</a:t>
            </a:r>
            <a:r>
              <a:rPr lang="en-US" altLang="ko-KR" dirty="0">
                <a:latin typeface="맑은 고딕" pitchFamily="50" charset="-127"/>
                <a:ea typeface="LG스마트체 Regular"/>
              </a:rPr>
              <a:t>)</a:t>
            </a:r>
            <a:endParaRPr lang="ko-KR" altLang="en-US" dirty="0">
              <a:latin typeface="맑은 고딕" pitchFamily="50" charset="-127"/>
              <a:ea typeface="LG스마트체 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7B12E-6324-60CB-2A09-D0982F767EF3}"/>
              </a:ext>
            </a:extLst>
          </p:cNvPr>
          <p:cNvSpPr txBox="1"/>
          <p:nvPr/>
        </p:nvSpPr>
        <p:spPr>
          <a:xfrm>
            <a:off x="10824" y="453060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매출액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스마트체 Regula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0F219F-53BC-F649-CB86-9E8B480A4AA8}"/>
              </a:ext>
            </a:extLst>
          </p:cNvPr>
          <p:cNvSpPr txBox="1"/>
          <p:nvPr/>
        </p:nvSpPr>
        <p:spPr>
          <a:xfrm>
            <a:off x="-9202" y="2311608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재료비율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스마트체 Regula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2BD1E4-572F-F22D-BF0A-A6257301BBFD}"/>
              </a:ext>
            </a:extLst>
          </p:cNvPr>
          <p:cNvSpPr txBox="1"/>
          <p:nvPr/>
        </p:nvSpPr>
        <p:spPr>
          <a:xfrm>
            <a:off x="20548" y="4171112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영업이익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스마트체 Regula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674957-161D-09BF-27D0-67D62E52CBF7}"/>
              </a:ext>
            </a:extLst>
          </p:cNvPr>
          <p:cNvSpPr txBox="1"/>
          <p:nvPr/>
        </p:nvSpPr>
        <p:spPr>
          <a:xfrm>
            <a:off x="8841432" y="1269340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백만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3ED338-02CE-5A46-7B7C-8A94FCDED67A}"/>
              </a:ext>
            </a:extLst>
          </p:cNvPr>
          <p:cNvSpPr txBox="1"/>
          <p:nvPr/>
        </p:nvSpPr>
        <p:spPr>
          <a:xfrm>
            <a:off x="8841432" y="5085764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백만</a:t>
            </a:r>
          </a:p>
        </p:txBody>
      </p:sp>
      <p:sp>
        <p:nvSpPr>
          <p:cNvPr id="54" name="TextBox 5">
            <a:extLst>
              <a:ext uri="{FF2B5EF4-FFF2-40B4-BE49-F238E27FC236}">
                <a16:creationId xmlns:a16="http://schemas.microsoft.com/office/drawing/2014/main" id="{02067FB1-E48B-E04E-1CF5-F2757BD51907}"/>
              </a:ext>
            </a:extLst>
          </p:cNvPr>
          <p:cNvSpPr txBox="1"/>
          <p:nvPr/>
        </p:nvSpPr>
        <p:spPr>
          <a:xfrm>
            <a:off x="8349100" y="4223937"/>
            <a:ext cx="1617465" cy="31106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25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년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12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월 </a:t>
            </a:r>
            <a:r>
              <a:rPr lang="ko-KR" altLang="en-US" sz="800" dirty="0" err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이익율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-8.9%</a:t>
            </a:r>
            <a:endParaRPr lang="en-US" altLang="ko-KR" sz="800" baseline="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5B2AFE-DA8D-DB6A-CB81-04CE8F95192B}"/>
              </a:ext>
            </a:extLst>
          </p:cNvPr>
          <p:cNvSpPr txBox="1"/>
          <p:nvPr/>
        </p:nvSpPr>
        <p:spPr>
          <a:xfrm>
            <a:off x="4679970" y="6599720"/>
            <a:ext cx="741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 Regular" pitchFamily="50" charset="-127"/>
                <a:ea typeface="LG스마트체 Regular"/>
              </a:rPr>
              <a:t>4/10</a:t>
            </a:r>
            <a:endParaRPr lang="ko-KR" altLang="en-US" sz="1000" dirty="0">
              <a:solidFill>
                <a:prstClr val="black"/>
              </a:solidFill>
              <a:latin typeface="LG스마트체 Regular" pitchFamily="50" charset="-127"/>
              <a:ea typeface="LG스마트체 Regular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591BD8E-310B-567F-6C0A-E1A425A0F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764244"/>
              </p:ext>
            </p:extLst>
          </p:nvPr>
        </p:nvGraphicFramePr>
        <p:xfrm>
          <a:off x="142241" y="1461980"/>
          <a:ext cx="9669009" cy="861016"/>
        </p:xfrm>
        <a:graphic>
          <a:graphicData uri="http://schemas.openxmlformats.org/drawingml/2006/table">
            <a:tbl>
              <a:tblPr/>
              <a:tblGrid>
                <a:gridCol w="379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3057599139"/>
                    </a:ext>
                  </a:extLst>
                </a:gridCol>
              </a:tblGrid>
              <a:tr h="17969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53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872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1,089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586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531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509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473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319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238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5,738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4,632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53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454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472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686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541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649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487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467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377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384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442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437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239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5,635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3,757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0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560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556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208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210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(172)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2,358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08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달성율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163.5%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118.7%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81.0%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38.5%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5.1%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9.8%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45.0%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(45.7%)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62.8%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408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-129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-529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-152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-378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-304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-483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-299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-2,274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85A7513-5806-2345-332A-7E06E5CCD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976912"/>
              </p:ext>
            </p:extLst>
          </p:nvPr>
        </p:nvGraphicFramePr>
        <p:xfrm>
          <a:off x="137140" y="3356992"/>
          <a:ext cx="9649071" cy="819462"/>
        </p:xfrm>
        <a:graphic>
          <a:graphicData uri="http://schemas.openxmlformats.org/drawingml/2006/table">
            <a:tbl>
              <a:tblPr/>
              <a:tblGrid>
                <a:gridCol w="378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1014094941"/>
                    </a:ext>
                  </a:extLst>
                </a:gridCol>
              </a:tblGrid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72.9%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72.4%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65.9%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67.7%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63.8%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72.2%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67.8%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63.6%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73.4%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72.1%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66.3%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69.2%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69.0%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7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68.3%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68.0%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68.4%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68.8%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68.3%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67.2%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67.9%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68.0%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66.7%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66.3%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68.2%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68.9%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73.8%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70.3%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41.6%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58.8%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66.2%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(67.0%)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65.8%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5.7%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6.1%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-26.8%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-10.0%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-2.1%</a:t>
                      </a:r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1.4%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4.4%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6.4%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-22.2%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-13.4%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-1.6%</a:t>
                      </a:r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5C187EDD-45FB-D39F-E745-41E4CC4EC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805912"/>
              </p:ext>
            </p:extLst>
          </p:nvPr>
        </p:nvGraphicFramePr>
        <p:xfrm>
          <a:off x="128474" y="5289027"/>
          <a:ext cx="9668117" cy="1308325"/>
        </p:xfrm>
        <a:graphic>
          <a:graphicData uri="http://schemas.openxmlformats.org/drawingml/2006/table">
            <a:tbl>
              <a:tblPr/>
              <a:tblGrid>
                <a:gridCol w="37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1865559395"/>
                    </a:ext>
                  </a:extLst>
                </a:gridCol>
              </a:tblGrid>
              <a:tr h="16691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7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7.1%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-10.8%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-926.7%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-8.9%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9.8%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-60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-21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414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461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67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-6.9%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458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346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0.9%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-54.6%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-37.0%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(1%)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-9.0%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(2)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6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달성율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189.5%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147.7%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98.9%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-23.7%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-39.9%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37.2%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26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-81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-40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-53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-46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-56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-332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B33E188-86F4-0ECD-93CE-B2190684F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797" y="238738"/>
            <a:ext cx="2066086" cy="169458"/>
          </a:xfrm>
          <a:prstGeom prst="rect">
            <a:avLst/>
          </a:prstGeom>
        </p:spPr>
      </p:pic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E51191E3-A17A-4E5F-A29D-B71833BC61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5148736"/>
              </p:ext>
            </p:extLst>
          </p:nvPr>
        </p:nvGraphicFramePr>
        <p:xfrm>
          <a:off x="610970" y="293845"/>
          <a:ext cx="8640960" cy="1234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A61721F-E024-44A8-898B-19F0F59AF7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4390369"/>
              </p:ext>
            </p:extLst>
          </p:nvPr>
        </p:nvGraphicFramePr>
        <p:xfrm>
          <a:off x="552948" y="2235351"/>
          <a:ext cx="8640960" cy="1234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A4D11116-5D7B-4C82-859B-32600C4FE7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0167967"/>
              </p:ext>
            </p:extLst>
          </p:nvPr>
        </p:nvGraphicFramePr>
        <p:xfrm>
          <a:off x="413102" y="4226275"/>
          <a:ext cx="8533736" cy="106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018570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3123-C096-7DE9-979A-B9D8DF91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68">
            <a:extLst>
              <a:ext uri="{FF2B5EF4-FFF2-40B4-BE49-F238E27FC236}">
                <a16:creationId xmlns:a16="http://schemas.microsoft.com/office/drawing/2014/main" id="{B20F2045-BCD7-5849-EC52-880013283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" y="50480"/>
            <a:ext cx="5281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dirty="0">
                <a:latin typeface="LG Smart UI Light" panose="020B0300000101010101" pitchFamily="50" charset="-127"/>
                <a:ea typeface="LG스마트체 Regular"/>
              </a:rPr>
              <a:t>월간 경영실적</a:t>
            </a:r>
            <a:r>
              <a:rPr lang="en-US" altLang="ko-KR" dirty="0">
                <a:latin typeface="LG Smart UI Light" panose="020B0300000101010101" pitchFamily="50" charset="-127"/>
                <a:ea typeface="LG스마트체 Regular"/>
              </a:rPr>
              <a:t>_</a:t>
            </a:r>
            <a:r>
              <a:rPr lang="ko-KR" altLang="en-US" dirty="0">
                <a:latin typeface="LG Smart UI Light" panose="020B0300000101010101" pitchFamily="50" charset="-127"/>
                <a:ea typeface="LG스마트체 Regular"/>
              </a:rPr>
              <a:t>일산</a:t>
            </a:r>
            <a:r>
              <a:rPr lang="en-US" altLang="ko-KR" dirty="0">
                <a:latin typeface="LG Smart UI Light" panose="020B0300000101010101" pitchFamily="50" charset="-127"/>
                <a:ea typeface="LG스마트체 Regular"/>
              </a:rPr>
              <a:t>(</a:t>
            </a:r>
            <a:r>
              <a:rPr lang="ko-KR" altLang="en-US" dirty="0">
                <a:latin typeface="LG Smart UI Light" panose="020B0300000101010101" pitchFamily="50" charset="-127"/>
                <a:ea typeface="LG스마트체 Regular"/>
              </a:rPr>
              <a:t>탈취필터</a:t>
            </a:r>
            <a:r>
              <a:rPr lang="en-US" altLang="ko-KR" dirty="0">
                <a:latin typeface="LG Smart UI Light" panose="020B0300000101010101" pitchFamily="50" charset="-127"/>
                <a:ea typeface="LG스마트체 Regular"/>
              </a:rPr>
              <a:t>)</a:t>
            </a:r>
            <a:endParaRPr lang="ko-KR" altLang="en-US" dirty="0">
              <a:latin typeface="LG Smart UI Light" panose="020B0300000101010101" pitchFamily="50" charset="-127"/>
              <a:ea typeface="LG스마트체 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CC5F6-CAC6-7DDF-1E77-4F349956588A}"/>
              </a:ext>
            </a:extLst>
          </p:cNvPr>
          <p:cNvSpPr txBox="1"/>
          <p:nvPr/>
        </p:nvSpPr>
        <p:spPr>
          <a:xfrm>
            <a:off x="-19470" y="469103"/>
            <a:ext cx="944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매출액</a:t>
            </a:r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A5DF2-B3E3-1537-2FE1-A7FD25D6B2DB}"/>
              </a:ext>
            </a:extLst>
          </p:cNvPr>
          <p:cNvSpPr txBox="1"/>
          <p:nvPr/>
        </p:nvSpPr>
        <p:spPr>
          <a:xfrm>
            <a:off x="8822382" y="1269340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백만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FEF3CA-BFB7-E400-2E07-FD6DDC219BFC}"/>
              </a:ext>
            </a:extLst>
          </p:cNvPr>
          <p:cNvSpPr txBox="1"/>
          <p:nvPr/>
        </p:nvSpPr>
        <p:spPr>
          <a:xfrm>
            <a:off x="-9202" y="2318683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재료비율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스마트체 Regula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3CAE48-B43E-D28D-FDA8-A2DE85492001}"/>
              </a:ext>
            </a:extLst>
          </p:cNvPr>
          <p:cNvSpPr txBox="1"/>
          <p:nvPr/>
        </p:nvSpPr>
        <p:spPr>
          <a:xfrm>
            <a:off x="28526" y="4221088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영업이익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스마트체 Regula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7102C-3B38-BD88-7AFA-47FA2F061B5D}"/>
              </a:ext>
            </a:extLst>
          </p:cNvPr>
          <p:cNvSpPr txBox="1"/>
          <p:nvPr/>
        </p:nvSpPr>
        <p:spPr>
          <a:xfrm>
            <a:off x="8822382" y="5085764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스마트체 Regular"/>
              </a:rPr>
              <a:t>백만</a:t>
            </a:r>
          </a:p>
        </p:txBody>
      </p:sp>
      <p:sp>
        <p:nvSpPr>
          <p:cNvPr id="22" name="TextBox 40">
            <a:extLst>
              <a:ext uri="{FF2B5EF4-FFF2-40B4-BE49-F238E27FC236}">
                <a16:creationId xmlns:a16="http://schemas.microsoft.com/office/drawing/2014/main" id="{3FCA76F0-1FC9-918E-A8A7-9193F91575B8}"/>
              </a:ext>
            </a:extLst>
          </p:cNvPr>
          <p:cNvSpPr txBox="1"/>
          <p:nvPr/>
        </p:nvSpPr>
        <p:spPr>
          <a:xfrm>
            <a:off x="1906588" y="15370175"/>
            <a:ext cx="590550" cy="30638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(63.1)</a:t>
            </a:r>
            <a:endParaRPr lang="ko-KR" altLang="en-US" sz="1200" b="1">
              <a:solidFill>
                <a:srgbClr val="FF0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F402F44E-2BC2-03F0-DD00-56BB99D3FD95}"/>
              </a:ext>
            </a:extLst>
          </p:cNvPr>
          <p:cNvSpPr txBox="1"/>
          <p:nvPr/>
        </p:nvSpPr>
        <p:spPr>
          <a:xfrm>
            <a:off x="2738438" y="15368588"/>
            <a:ext cx="712787" cy="3063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(60.7)</a:t>
            </a:r>
            <a:endParaRPr lang="ko-KR" altLang="en-US" sz="1200" b="1">
              <a:solidFill>
                <a:srgbClr val="FF0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4" name="TextBox 42">
            <a:extLst>
              <a:ext uri="{FF2B5EF4-FFF2-40B4-BE49-F238E27FC236}">
                <a16:creationId xmlns:a16="http://schemas.microsoft.com/office/drawing/2014/main" id="{EE3FA6C2-6448-7859-E61E-CF8AD8B89033}"/>
              </a:ext>
            </a:extLst>
          </p:cNvPr>
          <p:cNvSpPr txBox="1"/>
          <p:nvPr/>
        </p:nvSpPr>
        <p:spPr>
          <a:xfrm>
            <a:off x="3602038" y="15376525"/>
            <a:ext cx="590550" cy="30638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(73.4)</a:t>
            </a:r>
            <a:endParaRPr lang="ko-KR" altLang="en-US" sz="1200" b="1">
              <a:solidFill>
                <a:srgbClr val="FF0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5" name="TextBox 43">
            <a:extLst>
              <a:ext uri="{FF2B5EF4-FFF2-40B4-BE49-F238E27FC236}">
                <a16:creationId xmlns:a16="http://schemas.microsoft.com/office/drawing/2014/main" id="{10711652-DB1E-1A6E-F5A2-04438B8872C1}"/>
              </a:ext>
            </a:extLst>
          </p:cNvPr>
          <p:cNvSpPr txBox="1"/>
          <p:nvPr/>
        </p:nvSpPr>
        <p:spPr>
          <a:xfrm>
            <a:off x="4433888" y="15371763"/>
            <a:ext cx="614362" cy="3063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(66.2)</a:t>
            </a:r>
            <a:endParaRPr lang="ko-KR" altLang="en-US" sz="1200" b="1">
              <a:solidFill>
                <a:srgbClr val="FF0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6" name="TextBox 44">
            <a:extLst>
              <a:ext uri="{FF2B5EF4-FFF2-40B4-BE49-F238E27FC236}">
                <a16:creationId xmlns:a16="http://schemas.microsoft.com/office/drawing/2014/main" id="{A162AF26-CBE6-BB41-E695-2CCFB71789A7}"/>
              </a:ext>
            </a:extLst>
          </p:cNvPr>
          <p:cNvSpPr txBox="1"/>
          <p:nvPr/>
        </p:nvSpPr>
        <p:spPr>
          <a:xfrm>
            <a:off x="5287963" y="15370175"/>
            <a:ext cx="614362" cy="30638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(63.8)</a:t>
            </a:r>
            <a:endParaRPr lang="ko-KR" altLang="en-US" sz="1200" b="1">
              <a:solidFill>
                <a:srgbClr val="FF0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7" name="TextBox 45">
            <a:extLst>
              <a:ext uri="{FF2B5EF4-FFF2-40B4-BE49-F238E27FC236}">
                <a16:creationId xmlns:a16="http://schemas.microsoft.com/office/drawing/2014/main" id="{F9566E73-9FBF-303E-78E5-F777AD87D475}"/>
              </a:ext>
            </a:extLst>
          </p:cNvPr>
          <p:cNvSpPr txBox="1"/>
          <p:nvPr/>
        </p:nvSpPr>
        <p:spPr>
          <a:xfrm>
            <a:off x="6129338" y="15370175"/>
            <a:ext cx="612775" cy="30638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(66.1)</a:t>
            </a:r>
            <a:endParaRPr lang="ko-KR" altLang="en-US" sz="1200" b="1">
              <a:solidFill>
                <a:srgbClr val="FF0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8" name="TextBox 46">
            <a:extLst>
              <a:ext uri="{FF2B5EF4-FFF2-40B4-BE49-F238E27FC236}">
                <a16:creationId xmlns:a16="http://schemas.microsoft.com/office/drawing/2014/main" id="{59740144-83AE-2B26-684D-E70929B2AFBF}"/>
              </a:ext>
            </a:extLst>
          </p:cNvPr>
          <p:cNvSpPr txBox="1"/>
          <p:nvPr/>
        </p:nvSpPr>
        <p:spPr>
          <a:xfrm>
            <a:off x="6975475" y="15368588"/>
            <a:ext cx="614363" cy="3063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(44.2)</a:t>
            </a:r>
            <a:endParaRPr lang="ko-KR" altLang="en-US" sz="1200" b="1">
              <a:solidFill>
                <a:srgbClr val="FF0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B5CFF6-BAB9-ACFB-483D-7C81D6F52FB7}"/>
              </a:ext>
            </a:extLst>
          </p:cNvPr>
          <p:cNvSpPr txBox="1"/>
          <p:nvPr/>
        </p:nvSpPr>
        <p:spPr>
          <a:xfrm>
            <a:off x="4679970" y="6599720"/>
            <a:ext cx="741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 Regular" pitchFamily="50" charset="-127"/>
                <a:ea typeface="LG스마트체 Regular"/>
              </a:rPr>
              <a:t>5/10</a:t>
            </a:r>
            <a:endParaRPr lang="ko-KR" altLang="en-US" sz="1000" dirty="0">
              <a:solidFill>
                <a:prstClr val="black"/>
              </a:solidFill>
              <a:latin typeface="LG스마트체 Regular" pitchFamily="50" charset="-127"/>
              <a:ea typeface="LG스마트체 Regular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D3A0250-7522-C89E-49E0-D4CCF3DED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264542"/>
              </p:ext>
            </p:extLst>
          </p:nvPr>
        </p:nvGraphicFramePr>
        <p:xfrm>
          <a:off x="128464" y="1484680"/>
          <a:ext cx="9669009" cy="864200"/>
        </p:xfrm>
        <a:graphic>
          <a:graphicData uri="http://schemas.openxmlformats.org/drawingml/2006/table">
            <a:tbl>
              <a:tblPr/>
              <a:tblGrid>
                <a:gridCol w="379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3556633570"/>
                    </a:ext>
                  </a:extLst>
                </a:gridCol>
              </a:tblGrid>
              <a:tr h="1803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0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324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325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451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2,668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1,765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275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277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216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235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287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3007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1,827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5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401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(129)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1,607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58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달성율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69.1%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80.2%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120.3%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130.8%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59.2%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65.0%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(65.5%)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87.9%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458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-68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-103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-50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-158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09AA423-97CC-36A4-2203-3B74CC075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057775"/>
              </p:ext>
            </p:extLst>
          </p:nvPr>
        </p:nvGraphicFramePr>
        <p:xfrm>
          <a:off x="137140" y="3429000"/>
          <a:ext cx="9649071" cy="819462"/>
        </p:xfrm>
        <a:graphic>
          <a:graphicData uri="http://schemas.openxmlformats.org/drawingml/2006/table">
            <a:tbl>
              <a:tblPr/>
              <a:tblGrid>
                <a:gridCol w="378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582557099"/>
                    </a:ext>
                  </a:extLst>
                </a:gridCol>
              </a:tblGrid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55.2%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53.4%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57.5%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52.2%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49.3%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47.6%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57.1%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53.9%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62.0%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56.3%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57.7%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54.5%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53.5%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7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53.3%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53.6%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52.1%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49.3%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49.8%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52.4%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52.4%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53.0%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51.6%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54.1%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65.7%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68.8%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60.6%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63.9%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62.6%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62.0%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(65.0%)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62.5%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0.8%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12.1%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17.5%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8.5%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14.6%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10.7%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12.3%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11.3%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8.4%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14.6%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15.0%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9.3%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DD8C691-1597-6F56-2383-4CF612331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141065"/>
              </p:ext>
            </p:extLst>
          </p:nvPr>
        </p:nvGraphicFramePr>
        <p:xfrm>
          <a:off x="128474" y="5289258"/>
          <a:ext cx="9668117" cy="1294985"/>
        </p:xfrm>
        <a:graphic>
          <a:graphicData uri="http://schemas.openxmlformats.org/drawingml/2006/table">
            <a:tbl>
              <a:tblPr/>
              <a:tblGrid>
                <a:gridCol w="37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4266277254"/>
                    </a:ext>
                  </a:extLst>
                </a:gridCol>
              </a:tblGrid>
              <a:tr h="166888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5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27.8%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31.3%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28.7%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21.6%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23.1%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12.0%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6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602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65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29.4%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29.9%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27.9%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31.9%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32.0%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31.2%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28.7%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21.9%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29.2%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6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880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551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6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27.2%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(8%)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6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(10)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65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달성율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63.2%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50.1%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62.9%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112.7%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27.9%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55.3%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1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-84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-50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-62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-45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-297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D9576B86-CC2E-FFB5-729D-D6C63C1B6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797" y="238738"/>
            <a:ext cx="2066086" cy="169458"/>
          </a:xfrm>
          <a:prstGeom prst="rect">
            <a:avLst/>
          </a:prstGeom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7DE05DE2-8A61-B507-2685-79321006F230}"/>
              </a:ext>
            </a:extLst>
          </p:cNvPr>
          <p:cNvSpPr txBox="1"/>
          <p:nvPr/>
        </p:nvSpPr>
        <p:spPr>
          <a:xfrm>
            <a:off x="8409384" y="4289395"/>
            <a:ext cx="1617465" cy="31106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latin typeface="LG Smart UI Light" panose="020B0300000101010101" pitchFamily="50" charset="-127"/>
                <a:ea typeface="LG스마트체 Regular"/>
              </a:rPr>
              <a:t>25</a:t>
            </a:r>
            <a:r>
              <a:rPr lang="ko-KR" altLang="en-US" sz="800" dirty="0">
                <a:latin typeface="LG Smart UI Light" panose="020B0300000101010101" pitchFamily="50" charset="-127"/>
                <a:ea typeface="LG스마트체 Regular"/>
              </a:rPr>
              <a:t>년 </a:t>
            </a:r>
            <a:r>
              <a:rPr lang="en-US" altLang="ko-KR" sz="800" dirty="0">
                <a:latin typeface="LG Smart UI Light" panose="020B0300000101010101" pitchFamily="50" charset="-127"/>
                <a:ea typeface="LG스마트체 Regular"/>
              </a:rPr>
              <a:t>12</a:t>
            </a:r>
            <a:r>
              <a:rPr lang="ko-KR" altLang="en-US" sz="800" dirty="0">
                <a:latin typeface="LG Smart UI Light" panose="020B0300000101010101" pitchFamily="50" charset="-127"/>
                <a:ea typeface="LG스마트체 Regular"/>
              </a:rPr>
              <a:t>월 </a:t>
            </a:r>
            <a:r>
              <a:rPr lang="ko-KR" altLang="en-US" sz="800" dirty="0" err="1">
                <a:latin typeface="LG Smart UI Light" panose="020B0300000101010101" pitchFamily="50" charset="-127"/>
                <a:ea typeface="LG스마트체 Regular"/>
              </a:rPr>
              <a:t>이익율</a:t>
            </a:r>
            <a:r>
              <a:rPr lang="ko-KR" altLang="en-US" sz="800" dirty="0">
                <a:latin typeface="LG Smart UI Light" panose="020B0300000101010101" pitchFamily="50" charset="-127"/>
                <a:ea typeface="LG스마트체 Regular"/>
              </a:rPr>
              <a:t> </a:t>
            </a:r>
            <a:r>
              <a:rPr lang="en-US" altLang="ko-KR" sz="800" dirty="0">
                <a:latin typeface="LG Smart UI Light" panose="020B0300000101010101" pitchFamily="50" charset="-127"/>
                <a:ea typeface="LG스마트체 Regular"/>
              </a:rPr>
              <a:t>:</a:t>
            </a:r>
            <a:r>
              <a:rPr lang="ko-KR" altLang="en-US" sz="800" dirty="0">
                <a:latin typeface="LG Smart UI Light" panose="020B0300000101010101" pitchFamily="50" charset="-127"/>
                <a:ea typeface="LG스마트체 Regular"/>
              </a:rPr>
              <a:t> </a:t>
            </a:r>
            <a:r>
              <a:rPr lang="en-US" altLang="ko-KR" sz="800" dirty="0">
                <a:latin typeface="LG Smart UI Light" panose="020B0300000101010101" pitchFamily="50" charset="-127"/>
                <a:ea typeface="LG스마트체 Regular"/>
              </a:rPr>
              <a:t>12.0%</a:t>
            </a:r>
            <a:endParaRPr lang="en-US" altLang="ko-KR" sz="800" baseline="0" dirty="0">
              <a:latin typeface="LG Smart UI Light" panose="020B0300000101010101" pitchFamily="50" charset="-127"/>
              <a:ea typeface="LG스마트체 Regular"/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D348D60B-5DFA-4D0F-96E4-D7D95E42C6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8096045"/>
              </p:ext>
            </p:extLst>
          </p:nvPr>
        </p:nvGraphicFramePr>
        <p:xfrm>
          <a:off x="569186" y="542461"/>
          <a:ext cx="8920317" cy="953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30">
            <a:extLst>
              <a:ext uri="{FF2B5EF4-FFF2-40B4-BE49-F238E27FC236}">
                <a16:creationId xmlns:a16="http://schemas.microsoft.com/office/drawing/2014/main" id="{D1F188E1-8C2B-89A7-39E2-7EE09BF6D25A}"/>
              </a:ext>
            </a:extLst>
          </p:cNvPr>
          <p:cNvSpPr txBox="1"/>
          <p:nvPr/>
        </p:nvSpPr>
        <p:spPr>
          <a:xfrm>
            <a:off x="7998019" y="618835"/>
            <a:ext cx="1779517" cy="354099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탈취필터 자작 금액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 14</a:t>
            </a:r>
            <a:r>
              <a:rPr lang="ko-KR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 별도</a:t>
            </a:r>
            <a:endParaRPr lang="en-US" altLang="ko-KR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26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년 누적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 204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</a:t>
            </a:r>
            <a:endParaRPr lang="en-US" altLang="ko-KR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endParaRPr lang="ko-KR" altLang="ko-KR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8FB17F0D-8410-4273-BEAD-78D790E06E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7801371"/>
              </p:ext>
            </p:extLst>
          </p:nvPr>
        </p:nvGraphicFramePr>
        <p:xfrm>
          <a:off x="197125" y="4269143"/>
          <a:ext cx="8965689" cy="1007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FE561FD6-6F8A-44C9-A306-222AE9DF1C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9110673"/>
              </p:ext>
            </p:extLst>
          </p:nvPr>
        </p:nvGraphicFramePr>
        <p:xfrm>
          <a:off x="560926" y="2419248"/>
          <a:ext cx="8601888" cy="982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11361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0C641-F035-8C64-CE72-DA676C97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0">
            <a:extLst>
              <a:ext uri="{FF2B5EF4-FFF2-40B4-BE49-F238E27FC236}">
                <a16:creationId xmlns:a16="http://schemas.microsoft.com/office/drawing/2014/main" id="{27DC52FC-B100-5A7B-6492-F4FC843DBBB9}"/>
              </a:ext>
            </a:extLst>
          </p:cNvPr>
          <p:cNvSpPr txBox="1"/>
          <p:nvPr/>
        </p:nvSpPr>
        <p:spPr>
          <a:xfrm>
            <a:off x="8491723" y="4879931"/>
            <a:ext cx="1358160" cy="238250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aseline="0" dirty="0">
                <a:solidFill>
                  <a:schemeClr val="dk1"/>
                </a:solidFill>
                <a:effectLst/>
                <a:latin typeface="LG Smart UI Light" panose="020B0300000101010101" pitchFamily="50" charset="-127"/>
                <a:ea typeface="LG Smart UI Light" panose="020B0300000101010101" pitchFamily="50" charset="-127"/>
              </a:rPr>
              <a:t>25</a:t>
            </a:r>
            <a:r>
              <a:rPr lang="ko-KR" altLang="en-US" sz="800" baseline="0" dirty="0">
                <a:solidFill>
                  <a:schemeClr val="dk1"/>
                </a:solidFill>
                <a:effectLst/>
                <a:latin typeface="LG Smart UI Light" panose="020B0300000101010101" pitchFamily="50" charset="-127"/>
                <a:ea typeface="LG Smart UI Light" panose="020B0300000101010101" pitchFamily="50" charset="-127"/>
              </a:rPr>
              <a:t>년 </a:t>
            </a:r>
            <a:r>
              <a:rPr lang="en-US" altLang="ko-KR" sz="800" baseline="0" dirty="0">
                <a:solidFill>
                  <a:schemeClr val="dk1"/>
                </a:solidFill>
                <a:effectLst/>
                <a:latin typeface="LG Smart UI Light" panose="020B0300000101010101" pitchFamily="50" charset="-127"/>
                <a:ea typeface="LG Smart UI Light" panose="020B0300000101010101" pitchFamily="50" charset="-127"/>
              </a:rPr>
              <a:t>12</a:t>
            </a:r>
            <a:r>
              <a:rPr lang="ko-KR" altLang="en-US" sz="800" baseline="0" dirty="0">
                <a:solidFill>
                  <a:schemeClr val="dk1"/>
                </a:solidFill>
                <a:effectLst/>
                <a:latin typeface="LG Smart UI Light" panose="020B0300000101010101" pitchFamily="50" charset="-127"/>
                <a:ea typeface="LG Smart UI Light" panose="020B0300000101010101" pitchFamily="50" charset="-127"/>
              </a:rPr>
              <a:t>월 이익률 </a:t>
            </a:r>
            <a:r>
              <a:rPr lang="en-US" altLang="ko-KR" sz="800" baseline="0" dirty="0">
                <a:solidFill>
                  <a:schemeClr val="dk1"/>
                </a:solidFill>
                <a:effectLst/>
                <a:latin typeface="LG Smart UI Light" panose="020B0300000101010101" pitchFamily="50" charset="-127"/>
                <a:ea typeface="LG Smart UI Light" panose="020B0300000101010101" pitchFamily="50" charset="-127"/>
              </a:rPr>
              <a:t>3.3%</a:t>
            </a:r>
            <a:endParaRPr lang="ko-KR" altLang="ko-KR" sz="800" dirty="0">
              <a:effectLst/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sp>
        <p:nvSpPr>
          <p:cNvPr id="15" name="TextBox 68">
            <a:extLst>
              <a:ext uri="{FF2B5EF4-FFF2-40B4-BE49-F238E27FC236}">
                <a16:creationId xmlns:a16="http://schemas.microsoft.com/office/drawing/2014/main" id="{E07BCF3A-345B-3E58-BE17-E346D9DE7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" y="50480"/>
            <a:ext cx="5281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dirty="0">
                <a:latin typeface="LG Smart UI Light" panose="020B0300000101010101" pitchFamily="50" charset="-127"/>
                <a:ea typeface="LG스마트체 Regular" panose="020B0600000101010101"/>
              </a:rPr>
              <a:t>월간 경영실적</a:t>
            </a:r>
            <a:r>
              <a:rPr lang="en-US" altLang="ko-KR" dirty="0">
                <a:latin typeface="LG Smart UI Light" panose="020B0300000101010101" pitchFamily="50" charset="-127"/>
                <a:ea typeface="LG스마트체 Regular" panose="020B0600000101010101"/>
              </a:rPr>
              <a:t>_</a:t>
            </a:r>
            <a:r>
              <a:rPr lang="ko-KR" altLang="en-US" dirty="0">
                <a:latin typeface="LG Smart UI Light" panose="020B0300000101010101" pitchFamily="50" charset="-127"/>
                <a:ea typeface="LG스마트체 Regular" panose="020B0600000101010101"/>
              </a:rPr>
              <a:t>일산</a:t>
            </a:r>
            <a:r>
              <a:rPr lang="en-US" altLang="ko-KR" dirty="0">
                <a:latin typeface="LG Smart UI Light" panose="020B0300000101010101" pitchFamily="50" charset="-127"/>
                <a:ea typeface="LG스마트체 Regular" panose="020B0600000101010101"/>
              </a:rPr>
              <a:t>(</a:t>
            </a:r>
            <a:r>
              <a:rPr lang="ko-KR" altLang="en-US" dirty="0" err="1">
                <a:latin typeface="LG Smart UI Light" panose="020B0300000101010101" pitchFamily="50" charset="-127"/>
                <a:ea typeface="LG스마트체 Regular" panose="020B0600000101010101"/>
              </a:rPr>
              <a:t>밀레니얼</a:t>
            </a:r>
            <a:r>
              <a:rPr lang="en-US" altLang="ko-KR" dirty="0">
                <a:latin typeface="LG Smart UI Light" panose="020B0300000101010101" pitchFamily="50" charset="-127"/>
                <a:ea typeface="LG스마트체 Regular" panose="020B0600000101010101"/>
              </a:rPr>
              <a:t>)</a:t>
            </a:r>
            <a:endParaRPr lang="ko-KR" altLang="en-US" dirty="0">
              <a:latin typeface="LG Smart UI Light" panose="020B0300000101010101" pitchFamily="50" charset="-127"/>
              <a:ea typeface="LG스마트체 Regular" panose="020B0600000101010101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BDCB0B-B178-E704-EFBB-E137C4960166}"/>
              </a:ext>
            </a:extLst>
          </p:cNvPr>
          <p:cNvSpPr txBox="1"/>
          <p:nvPr/>
        </p:nvSpPr>
        <p:spPr>
          <a:xfrm>
            <a:off x="10824" y="453060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매출액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E660B5-87E9-0D72-A4FC-7B4D28EB083B}"/>
              </a:ext>
            </a:extLst>
          </p:cNvPr>
          <p:cNvSpPr txBox="1"/>
          <p:nvPr/>
        </p:nvSpPr>
        <p:spPr>
          <a:xfrm>
            <a:off x="8833466" y="1357066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백만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F567EA-B7D9-EE4D-B58F-B5F3120C72CD}"/>
              </a:ext>
            </a:extLst>
          </p:cNvPr>
          <p:cNvSpPr txBox="1"/>
          <p:nvPr/>
        </p:nvSpPr>
        <p:spPr>
          <a:xfrm>
            <a:off x="-25012" y="2420888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재료비율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7D50EA-7615-1F53-A040-59E9DB0543E3}"/>
              </a:ext>
            </a:extLst>
          </p:cNvPr>
          <p:cNvSpPr txBox="1"/>
          <p:nvPr/>
        </p:nvSpPr>
        <p:spPr>
          <a:xfrm>
            <a:off x="-24651" y="4365104"/>
            <a:ext cx="106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영업이익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5452C1-0881-D23A-7E84-5CC895037269}"/>
              </a:ext>
            </a:extLst>
          </p:cNvPr>
          <p:cNvSpPr txBox="1"/>
          <p:nvPr/>
        </p:nvSpPr>
        <p:spPr>
          <a:xfrm>
            <a:off x="8752522" y="5157192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백만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FE994C-71F1-0D8B-58AB-4BA999327576}"/>
              </a:ext>
            </a:extLst>
          </p:cNvPr>
          <p:cNvSpPr txBox="1"/>
          <p:nvPr/>
        </p:nvSpPr>
        <p:spPr>
          <a:xfrm>
            <a:off x="4679970" y="6599720"/>
            <a:ext cx="741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 Regular" pitchFamily="50" charset="-127"/>
                <a:ea typeface="LG스마트체 Regular"/>
              </a:rPr>
              <a:t>6/10</a:t>
            </a:r>
            <a:endParaRPr lang="ko-KR" altLang="en-US" sz="1000" dirty="0">
              <a:solidFill>
                <a:prstClr val="black"/>
              </a:solidFill>
              <a:latin typeface="LG스마트체 Regular" pitchFamily="50" charset="-127"/>
              <a:ea typeface="LG스마트체 Regular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F9B96CF-22F5-66FB-EE9E-D8A687067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991791"/>
              </p:ext>
            </p:extLst>
          </p:nvPr>
        </p:nvGraphicFramePr>
        <p:xfrm>
          <a:off x="142241" y="1556792"/>
          <a:ext cx="9669009" cy="843786"/>
        </p:xfrm>
        <a:graphic>
          <a:graphicData uri="http://schemas.openxmlformats.org/drawingml/2006/table">
            <a:tbl>
              <a:tblPr/>
              <a:tblGrid>
                <a:gridCol w="379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284">
                  <a:extLst>
                    <a:ext uri="{9D8B030D-6E8A-4147-A177-3AD203B41FA5}">
                      <a16:colId xmlns:a16="http://schemas.microsoft.com/office/drawing/2014/main" val="1629001454"/>
                    </a:ext>
                  </a:extLst>
                </a:gridCol>
              </a:tblGrid>
              <a:tr h="15167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4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274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437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283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328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318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324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3,931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2,436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4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281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316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363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329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4,004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2,371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2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492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382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476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364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506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551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455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(130)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3,225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20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달성율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174.9%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121.0%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134.9%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103.2%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143.5%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156.2%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125.4%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(38.6%)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136.1%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20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218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200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-56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789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2E4BA1B-E31B-2542-3658-ED65064FF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704332"/>
              </p:ext>
            </p:extLst>
          </p:nvPr>
        </p:nvGraphicFramePr>
        <p:xfrm>
          <a:off x="128464" y="3501008"/>
          <a:ext cx="9649071" cy="934164"/>
        </p:xfrm>
        <a:graphic>
          <a:graphicData uri="http://schemas.openxmlformats.org/drawingml/2006/table">
            <a:tbl>
              <a:tblPr/>
              <a:tblGrid>
                <a:gridCol w="378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8007">
                  <a:extLst>
                    <a:ext uri="{9D8B030D-6E8A-4147-A177-3AD203B41FA5}">
                      <a16:colId xmlns:a16="http://schemas.microsoft.com/office/drawing/2014/main" val="1863960011"/>
                    </a:ext>
                  </a:extLst>
                </a:gridCol>
              </a:tblGrid>
              <a:tr h="14401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78.1%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78.0%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7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26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77.3%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77.3%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77.3%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77.3%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76.9%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78.8%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82.6%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73.7%</a:t>
                      </a: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(76.5%)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80.0%</a:t>
                      </a: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(76.3%)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(76.5%)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78.2%</a:t>
                      </a: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(78.1%)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목표대비 증감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1.6%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0.4%</a:t>
                      </a:r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0%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0.3%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5.4%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-3.5%</a:t>
                      </a:r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2.7%</a:t>
                      </a:r>
                      <a:endParaRPr lang="ko-KR" altLang="en-US" sz="800" b="0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1.0%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5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3.1%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1.0%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1.6%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-2.8%</a:t>
                      </a:r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4.5%</a:t>
                      </a:r>
                      <a:endParaRPr lang="ko-KR" altLang="en-US" sz="800" b="0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1CA5262-0548-DA47-26FE-205F7A96A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48675"/>
              </p:ext>
            </p:extLst>
          </p:nvPr>
        </p:nvGraphicFramePr>
        <p:xfrm>
          <a:off x="128474" y="5386786"/>
          <a:ext cx="9668117" cy="1209097"/>
        </p:xfrm>
        <a:graphic>
          <a:graphicData uri="http://schemas.openxmlformats.org/drawingml/2006/table">
            <a:tbl>
              <a:tblPr/>
              <a:tblGrid>
                <a:gridCol w="37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19227">
                  <a:extLst>
                    <a:ext uri="{9D8B030D-6E8A-4147-A177-3AD203B41FA5}">
                      <a16:colId xmlns:a16="http://schemas.microsoft.com/office/drawing/2014/main" val="565543607"/>
                    </a:ext>
                  </a:extLst>
                </a:gridCol>
              </a:tblGrid>
              <a:tr h="13664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69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11.0%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3.3%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11.8%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12.8%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6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465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69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6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408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14.2%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(5%)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(7)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401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달성율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306.1%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139.6%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191.8%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101.5%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97.7%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238.4%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118.3%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162.9%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04B0A9DD-E0D9-D826-D962-8025D31F2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797" y="238738"/>
            <a:ext cx="2066086" cy="169458"/>
          </a:xfrm>
          <a:prstGeom prst="rect">
            <a:avLst/>
          </a:prstGeom>
        </p:spPr>
      </p:pic>
      <p:sp>
        <p:nvSpPr>
          <p:cNvPr id="5" name="TextBox 30">
            <a:extLst>
              <a:ext uri="{FF2B5EF4-FFF2-40B4-BE49-F238E27FC236}">
                <a16:creationId xmlns:a16="http://schemas.microsoft.com/office/drawing/2014/main" id="{CEA6E929-6C12-4C33-6568-0C9F423AEDE0}"/>
              </a:ext>
            </a:extLst>
          </p:cNvPr>
          <p:cNvSpPr txBox="1"/>
          <p:nvPr/>
        </p:nvSpPr>
        <p:spPr>
          <a:xfrm>
            <a:off x="8033453" y="2414139"/>
            <a:ext cx="1843657" cy="605612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영업 판가 현실화 인상 </a:t>
            </a:r>
            <a:r>
              <a:rPr lang="en-US" altLang="ko-KR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 14</a:t>
            </a:r>
            <a:r>
              <a:rPr lang="ko-KR" alt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백만원↓</a:t>
            </a:r>
            <a:endParaRPr lang="en-US" altLang="ko-KR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자재 매입가 인상 </a:t>
            </a:r>
            <a:r>
              <a:rPr lang="en-US" altLang="ko-KR" sz="800" dirty="0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 10</a:t>
            </a:r>
            <a:r>
              <a:rPr lang="ko-KR" altLang="en-US" sz="800" dirty="0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백만↑</a:t>
            </a:r>
            <a:endParaRPr lang="en-US" altLang="ko-KR" sz="800" dirty="0">
              <a:solidFill>
                <a:schemeClr val="tx1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전월 </a:t>
            </a:r>
            <a:r>
              <a:rPr lang="ko-KR" altLang="en-US" sz="800" dirty="0" err="1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선마감</a:t>
            </a:r>
            <a:r>
              <a:rPr lang="ko-KR" altLang="en-US" sz="800" dirty="0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 21</a:t>
            </a:r>
            <a:r>
              <a:rPr lang="ko-KR" altLang="en-US" sz="800" dirty="0">
                <a:solidFill>
                  <a:schemeClr val="tx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백만원</a:t>
            </a:r>
            <a:endParaRPr lang="en-US" altLang="ko-KR" sz="800" dirty="0">
              <a:solidFill>
                <a:schemeClr val="tx1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ko-KR" altLang="en-US" sz="800" dirty="0" err="1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Total</a:t>
            </a:r>
            <a:r>
              <a:rPr lang="ko-KR" altLang="en-US" sz="800" dirty="0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: </a:t>
            </a:r>
            <a:r>
              <a:rPr lang="en-US" altLang="ko-KR" sz="800" dirty="0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17</a:t>
            </a:r>
            <a:r>
              <a:rPr lang="ko-KR" altLang="en-US" sz="800" dirty="0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백만원 </a:t>
            </a:r>
            <a:r>
              <a:rPr lang="en-US" altLang="ko-KR" sz="800" dirty="0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(3.7%</a:t>
            </a:r>
            <a:r>
              <a:rPr lang="ko-KR" altLang="en-US" sz="800" dirty="0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↑</a:t>
            </a:r>
            <a:r>
              <a:rPr lang="en-US" altLang="ko-KR" sz="800" dirty="0">
                <a:solidFill>
                  <a:srgbClr val="FF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)</a:t>
            </a:r>
          </a:p>
          <a:p>
            <a:endParaRPr lang="en-US" altLang="ko-KR" sz="800" dirty="0">
              <a:solidFill>
                <a:srgbClr val="FF0000"/>
              </a:solidFill>
            </a:endParaRP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BA7E0EA5-A2AB-431A-8B72-CDC586184D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8112813"/>
              </p:ext>
            </p:extLst>
          </p:nvPr>
        </p:nvGraphicFramePr>
        <p:xfrm>
          <a:off x="620260" y="447207"/>
          <a:ext cx="8797235" cy="1191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C9775531-8657-4ECD-BC32-91FEBFF81D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594782"/>
              </p:ext>
            </p:extLst>
          </p:nvPr>
        </p:nvGraphicFramePr>
        <p:xfrm>
          <a:off x="543224" y="2457921"/>
          <a:ext cx="8326078" cy="934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2CF62120-45CB-432D-9664-6C5C57C695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3576855"/>
              </p:ext>
            </p:extLst>
          </p:nvPr>
        </p:nvGraphicFramePr>
        <p:xfrm>
          <a:off x="237648" y="4245381"/>
          <a:ext cx="8905263" cy="1280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83361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120D-27B1-974C-521B-2DD81C6C1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68">
            <a:extLst>
              <a:ext uri="{FF2B5EF4-FFF2-40B4-BE49-F238E27FC236}">
                <a16:creationId xmlns:a16="http://schemas.microsoft.com/office/drawing/2014/main" id="{F21B9AC8-59F6-FE47-4614-E082A54AD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" y="50480"/>
            <a:ext cx="5281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dirty="0">
                <a:latin typeface="LG Smart UI Light" panose="020B0300000101010101" pitchFamily="50" charset="-127"/>
                <a:ea typeface="LG스마트체 Regular" panose="020B0600000101010101"/>
              </a:rPr>
              <a:t>월간 경영실적</a:t>
            </a:r>
            <a:r>
              <a:rPr lang="en-US" altLang="ko-KR" dirty="0">
                <a:latin typeface="LG Smart UI Light" panose="020B0300000101010101" pitchFamily="50" charset="-127"/>
                <a:ea typeface="LG스마트체 Regular" panose="020B0600000101010101"/>
              </a:rPr>
              <a:t>_</a:t>
            </a:r>
            <a:r>
              <a:rPr lang="ko-KR" altLang="en-US" dirty="0">
                <a:latin typeface="LG Smart UI Light" panose="020B0300000101010101" pitchFamily="50" charset="-127"/>
                <a:ea typeface="LG스마트체 Regular" panose="020B0600000101010101"/>
              </a:rPr>
              <a:t>일산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A7531-1CEB-3904-A049-314F2A9C9918}"/>
              </a:ext>
            </a:extLst>
          </p:cNvPr>
          <p:cNvSpPr txBox="1"/>
          <p:nvPr/>
        </p:nvSpPr>
        <p:spPr>
          <a:xfrm>
            <a:off x="56456" y="493083"/>
            <a:ext cx="1584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&lt;Insulation </a:t>
            </a:r>
            <a:r>
              <a:rPr lang="ko-KR" altLang="en-US" sz="1000" b="1" dirty="0" err="1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노무비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D18BA2-1CE3-6495-3937-BC8F77947449}"/>
              </a:ext>
            </a:extLst>
          </p:cNvPr>
          <p:cNvSpPr txBox="1"/>
          <p:nvPr/>
        </p:nvSpPr>
        <p:spPr>
          <a:xfrm>
            <a:off x="8822382" y="1820004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백만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072FB5-C593-69DE-EE25-E46F75D7C44F}"/>
              </a:ext>
            </a:extLst>
          </p:cNvPr>
          <p:cNvSpPr txBox="1"/>
          <p:nvPr/>
        </p:nvSpPr>
        <p:spPr>
          <a:xfrm>
            <a:off x="58029" y="3451364"/>
            <a:ext cx="1584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유전체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 </a:t>
            </a:r>
            <a:r>
              <a:rPr lang="ko-KR" altLang="en-US" sz="1000" b="1" dirty="0" err="1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노무비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E1B405-A74F-486B-BEA7-8EAE3D83A964}"/>
              </a:ext>
            </a:extLst>
          </p:cNvPr>
          <p:cNvSpPr txBox="1"/>
          <p:nvPr/>
        </p:nvSpPr>
        <p:spPr>
          <a:xfrm>
            <a:off x="8822382" y="5013756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백만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BC4099-973D-040D-1BE3-6DB16B5A0F10}"/>
              </a:ext>
            </a:extLst>
          </p:cNvPr>
          <p:cNvSpPr txBox="1"/>
          <p:nvPr/>
        </p:nvSpPr>
        <p:spPr>
          <a:xfrm>
            <a:off x="4679970" y="6599720"/>
            <a:ext cx="741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 Regular" pitchFamily="50" charset="-127"/>
                <a:ea typeface="LG스마트체 Regular"/>
              </a:rPr>
              <a:t>7/10</a:t>
            </a:r>
            <a:endParaRPr lang="ko-KR" altLang="en-US" sz="1000" dirty="0">
              <a:solidFill>
                <a:prstClr val="black"/>
              </a:solidFill>
              <a:latin typeface="LG스마트체 Regular" pitchFamily="50" charset="-127"/>
              <a:ea typeface="LG스마트체 Regular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3C98DA1-571C-7B17-E1DA-0891E0F41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220503"/>
              </p:ext>
            </p:extLst>
          </p:nvPr>
        </p:nvGraphicFramePr>
        <p:xfrm>
          <a:off x="128462" y="2132856"/>
          <a:ext cx="9639203" cy="1207874"/>
        </p:xfrm>
        <a:graphic>
          <a:graphicData uri="http://schemas.openxmlformats.org/drawingml/2006/table">
            <a:tbl>
              <a:tblPr/>
              <a:tblGrid>
                <a:gridCol w="381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3911994447"/>
                    </a:ext>
                  </a:extLst>
                </a:gridCol>
              </a:tblGrid>
              <a:tr h="19392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99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6.0%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6.4%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133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1,440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850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9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(6.7%)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6.6%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122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(120)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830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99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A7ABCE28-E421-6D3B-E1BC-CA64F8A70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27778"/>
              </p:ext>
            </p:extLst>
          </p:nvPr>
        </p:nvGraphicFramePr>
        <p:xfrm>
          <a:off x="128461" y="5229200"/>
          <a:ext cx="9639203" cy="1182937"/>
        </p:xfrm>
        <a:graphic>
          <a:graphicData uri="http://schemas.openxmlformats.org/drawingml/2006/table">
            <a:tbl>
              <a:tblPr/>
              <a:tblGrid>
                <a:gridCol w="381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669063565"/>
                    </a:ext>
                  </a:extLst>
                </a:gridCol>
              </a:tblGrid>
              <a:tr h="16899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99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1,359.4%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13.8%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12.7%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558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9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23.4%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9.2%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77.3%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51.4%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19.4%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(18.6%)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26.7%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9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(32)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99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-56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-49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-46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-46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-23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-296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74A7A14-CA7B-4268-D0D3-4EF2F1048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797" y="238738"/>
            <a:ext cx="2066086" cy="169458"/>
          </a:xfrm>
          <a:prstGeom prst="rect">
            <a:avLst/>
          </a:prstGeom>
        </p:spPr>
      </p:pic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87992FFD-21CF-4ED8-AA2B-39190BB129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3852541"/>
              </p:ext>
            </p:extLst>
          </p:nvPr>
        </p:nvGraphicFramePr>
        <p:xfrm>
          <a:off x="-159568" y="476743"/>
          <a:ext cx="9289032" cy="1698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185F38C6-8127-4649-A73E-EC4F02FA89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6822418"/>
              </p:ext>
            </p:extLst>
          </p:nvPr>
        </p:nvGraphicFramePr>
        <p:xfrm>
          <a:off x="-169094" y="3303520"/>
          <a:ext cx="9289032" cy="1951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30934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1AE83-DA5C-6DAA-43D1-9CE3E3DD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68">
            <a:extLst>
              <a:ext uri="{FF2B5EF4-FFF2-40B4-BE49-F238E27FC236}">
                <a16:creationId xmlns:a16="http://schemas.microsoft.com/office/drawing/2014/main" id="{8E7DE066-2059-78C6-33E7-002D7132C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" y="50480"/>
            <a:ext cx="5281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dirty="0">
                <a:latin typeface="LG Smart UI Light" panose="020B0300000101010101" pitchFamily="50" charset="-127"/>
                <a:ea typeface="LG스마트체 Regular" panose="020B0600000101010101"/>
              </a:rPr>
              <a:t>월간 경영실적</a:t>
            </a:r>
            <a:r>
              <a:rPr lang="en-US" altLang="ko-KR" dirty="0">
                <a:latin typeface="LG Smart UI Light" panose="020B0300000101010101" pitchFamily="50" charset="-127"/>
                <a:ea typeface="LG스마트체 Regular" panose="020B0600000101010101"/>
              </a:rPr>
              <a:t>_</a:t>
            </a:r>
            <a:r>
              <a:rPr lang="ko-KR" altLang="en-US" dirty="0">
                <a:latin typeface="LG Smart UI Light" panose="020B0300000101010101" pitchFamily="50" charset="-127"/>
                <a:ea typeface="LG스마트체 Regular" panose="020B0600000101010101"/>
              </a:rPr>
              <a:t>일산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90E5D-901F-F6D4-5277-B282B65B723B}"/>
              </a:ext>
            </a:extLst>
          </p:cNvPr>
          <p:cNvSpPr txBox="1"/>
          <p:nvPr/>
        </p:nvSpPr>
        <p:spPr>
          <a:xfrm>
            <a:off x="8769424" y="1845404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백만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D0FE32-8654-3A60-4ABB-D839C16FED4F}"/>
              </a:ext>
            </a:extLst>
          </p:cNvPr>
          <p:cNvSpPr txBox="1"/>
          <p:nvPr/>
        </p:nvSpPr>
        <p:spPr>
          <a:xfrm>
            <a:off x="56456" y="518483"/>
            <a:ext cx="1584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&lt;</a:t>
            </a:r>
            <a:r>
              <a:rPr lang="ko-KR" altLang="en-US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탈취필터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 </a:t>
            </a:r>
            <a:r>
              <a:rPr lang="ko-KR" altLang="en-US" sz="1000" b="1" dirty="0" err="1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노무비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B1F2D6-7D5D-6837-43B5-CE17BA82E30A}"/>
              </a:ext>
            </a:extLst>
          </p:cNvPr>
          <p:cNvSpPr txBox="1"/>
          <p:nvPr/>
        </p:nvSpPr>
        <p:spPr>
          <a:xfrm>
            <a:off x="8880758" y="4854608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금액단위</a:t>
            </a:r>
            <a:r>
              <a:rPr lang="en-US" altLang="ko-KR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백만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1D2E77-8280-B1ED-229A-94AA37238F29}"/>
              </a:ext>
            </a:extLst>
          </p:cNvPr>
          <p:cNvSpPr txBox="1"/>
          <p:nvPr/>
        </p:nvSpPr>
        <p:spPr>
          <a:xfrm>
            <a:off x="56456" y="3488150"/>
            <a:ext cx="1584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&lt;</a:t>
            </a:r>
            <a:r>
              <a:rPr lang="ko-KR" altLang="en-US" sz="1000" b="1" dirty="0" err="1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밀레니얼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 </a:t>
            </a:r>
            <a:r>
              <a:rPr lang="ko-KR" altLang="en-US" sz="1000" b="1" dirty="0" err="1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노무비</a:t>
            </a:r>
            <a:r>
              <a:rPr lang="en-US" altLang="ko-KR" sz="10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&gt;</a:t>
            </a:r>
            <a:endParaRPr lang="ko-KR" altLang="en-US" sz="1000" b="1" dirty="0">
              <a:solidFill>
                <a:prstClr val="black"/>
              </a:solidFill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412F8E-D448-3230-3FEB-3CF3D5361A9D}"/>
              </a:ext>
            </a:extLst>
          </p:cNvPr>
          <p:cNvSpPr txBox="1"/>
          <p:nvPr/>
        </p:nvSpPr>
        <p:spPr>
          <a:xfrm>
            <a:off x="4679970" y="6599720"/>
            <a:ext cx="741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 Regular" pitchFamily="50" charset="-127"/>
                <a:ea typeface="LG스마트체 Regular"/>
              </a:rPr>
              <a:t>8/10</a:t>
            </a:r>
            <a:endParaRPr lang="ko-KR" altLang="en-US" sz="1000" dirty="0">
              <a:solidFill>
                <a:prstClr val="black"/>
              </a:solidFill>
              <a:latin typeface="LG스마트체 Regular" pitchFamily="50" charset="-127"/>
              <a:ea typeface="LG스마트체 Regular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DAE730-2A87-90F3-F4C1-C7FF1CED5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543252"/>
              </p:ext>
            </p:extLst>
          </p:nvPr>
        </p:nvGraphicFramePr>
        <p:xfrm>
          <a:off x="128462" y="2084600"/>
          <a:ext cx="9639203" cy="1182937"/>
        </p:xfrm>
        <a:graphic>
          <a:graphicData uri="http://schemas.openxmlformats.org/drawingml/2006/table">
            <a:tbl>
              <a:tblPr/>
              <a:tblGrid>
                <a:gridCol w="381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707561990"/>
                    </a:ext>
                  </a:extLst>
                </a:gridCol>
              </a:tblGrid>
              <a:tr h="16899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99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8.6%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8.3%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9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7.3%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(11.6%)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7.7%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99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-6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-2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D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-39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EADFB94-64A1-F163-4E6F-57EDF7F3A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201455"/>
              </p:ext>
            </p:extLst>
          </p:nvPr>
        </p:nvGraphicFramePr>
        <p:xfrm>
          <a:off x="128461" y="5122569"/>
          <a:ext cx="9639203" cy="1258761"/>
        </p:xfrm>
        <a:graphic>
          <a:graphicData uri="http://schemas.openxmlformats.org/drawingml/2006/table">
            <a:tbl>
              <a:tblPr/>
              <a:tblGrid>
                <a:gridCol w="381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21884">
                  <a:extLst>
                    <a:ext uri="{9D8B030D-6E8A-4147-A177-3AD203B41FA5}">
                      <a16:colId xmlns:a16="http://schemas.microsoft.com/office/drawing/2014/main" val="568986871"/>
                    </a:ext>
                  </a:extLst>
                </a:gridCol>
              </a:tblGrid>
              <a:tr h="17982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 누적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2.4%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5.7%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3.8%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2.7%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8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20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82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5.4%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8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4.1%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3.6%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(10.8%)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3.1%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8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(14)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82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전년대비 증감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DF0000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-1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30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3AB1D6E3-A32C-1B78-2694-1EBAB83D4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797" y="238738"/>
            <a:ext cx="2066086" cy="169458"/>
          </a:xfrm>
          <a:prstGeom prst="rect">
            <a:avLst/>
          </a:prstGeom>
        </p:spPr>
      </p:pic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1F5F8501-BA12-4F21-B467-911B107D6E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3087554"/>
              </p:ext>
            </p:extLst>
          </p:nvPr>
        </p:nvGraphicFramePr>
        <p:xfrm>
          <a:off x="56456" y="673144"/>
          <a:ext cx="9001000" cy="1358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8DA8FEDA-AA5A-4365-85D9-4633E5E114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8066978"/>
              </p:ext>
            </p:extLst>
          </p:nvPr>
        </p:nvGraphicFramePr>
        <p:xfrm>
          <a:off x="115428" y="3520874"/>
          <a:ext cx="8870019" cy="1669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701988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표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955554"/>
              </p:ext>
            </p:extLst>
          </p:nvPr>
        </p:nvGraphicFramePr>
        <p:xfrm>
          <a:off x="1485525" y="4394280"/>
          <a:ext cx="5375112" cy="520700"/>
        </p:xfrm>
        <a:graphic>
          <a:graphicData uri="http://schemas.openxmlformats.org/drawingml/2006/table">
            <a:tbl>
              <a:tblPr/>
              <a:tblGrid>
                <a:gridCol w="1120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9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22.31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  23.37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15.47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6.83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7.90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(9.8%)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 (10.5%)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(7.6%)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(2.0%p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↓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(2.7%p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↓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표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753502"/>
              </p:ext>
            </p:extLst>
          </p:nvPr>
        </p:nvGraphicFramePr>
        <p:xfrm>
          <a:off x="1496613" y="1385466"/>
          <a:ext cx="5375107" cy="387350"/>
        </p:xfrm>
        <a:graphic>
          <a:graphicData uri="http://schemas.openxmlformats.org/drawingml/2006/table">
            <a:tbl>
              <a:tblPr/>
              <a:tblGrid>
                <a:gridCol w="112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223.89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221.83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198.50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25.39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23.33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  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" name="표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764741"/>
              </p:ext>
            </p:extLst>
          </p:nvPr>
        </p:nvGraphicFramePr>
        <p:xfrm>
          <a:off x="1496613" y="1939000"/>
          <a:ext cx="5375107" cy="1069834"/>
        </p:xfrm>
        <a:graphic>
          <a:graphicData uri="http://schemas.openxmlformats.org/drawingml/2006/table">
            <a:tbl>
              <a:tblPr/>
              <a:tblGrid>
                <a:gridCol w="112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491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166.48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(72.9%)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162.29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(73.2%)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147.80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 (74.5%)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18.68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endParaRPr lang="en-US" altLang="ko-KR" sz="1000" b="1" kern="1200" dirty="0">
                        <a:solidFill>
                          <a:srgbClr val="FF0000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(1.6%p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↑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14.49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rgbClr val="FF0000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endParaRPr lang="en-US" altLang="ko-KR" sz="1000" b="1" kern="1200" dirty="0">
                        <a:solidFill>
                          <a:srgbClr val="FF0000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(1.3%p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↑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1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7" name="표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728772"/>
              </p:ext>
            </p:extLst>
          </p:nvPr>
        </p:nvGraphicFramePr>
        <p:xfrm>
          <a:off x="1496613" y="2572224"/>
          <a:ext cx="5375109" cy="520700"/>
        </p:xfrm>
        <a:graphic>
          <a:graphicData uri="http://schemas.openxmlformats.org/drawingml/2006/table">
            <a:tbl>
              <a:tblPr/>
              <a:tblGrid>
                <a:gridCol w="112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9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16.35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14.93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13.10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3.26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1.83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(7.2%)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(6.7%)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(6.6%)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(0.6%p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↓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(0.1%p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↓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8" name="표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915842"/>
              </p:ext>
            </p:extLst>
          </p:nvPr>
        </p:nvGraphicFramePr>
        <p:xfrm>
          <a:off x="1496611" y="3200779"/>
          <a:ext cx="5375110" cy="520700"/>
        </p:xfrm>
        <a:graphic>
          <a:graphicData uri="http://schemas.openxmlformats.org/drawingml/2006/table">
            <a:tbl>
              <a:tblPr/>
              <a:tblGrid>
                <a:gridCol w="1120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7.09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7.48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7.36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0.26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억↑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0.12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(3.1%)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(3.4%)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(3.7%)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(0.6%p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↑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(0.3%p</a:t>
                      </a:r>
                      <a:r>
                        <a:rPr lang="ko-KR" altLang="en-US" sz="1000" b="1" kern="1200" dirty="0">
                          <a:solidFill>
                            <a:srgbClr val="D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↑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9" name="표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239729"/>
              </p:ext>
            </p:extLst>
          </p:nvPr>
        </p:nvGraphicFramePr>
        <p:xfrm>
          <a:off x="1496609" y="3796360"/>
          <a:ext cx="5375112" cy="520700"/>
        </p:xfrm>
        <a:graphic>
          <a:graphicData uri="http://schemas.openxmlformats.org/drawingml/2006/table">
            <a:tbl>
              <a:tblPr/>
              <a:tblGrid>
                <a:gridCol w="1120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9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16.13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17.31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15.74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endParaRPr lang="en-US" altLang="ko-KR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0.39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1.57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(7.1%)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(7.8%)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(7.9%)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(0.8%p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↑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(0.1%p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↑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" name="표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114989"/>
              </p:ext>
            </p:extLst>
          </p:nvPr>
        </p:nvGraphicFramePr>
        <p:xfrm>
          <a:off x="1496609" y="4976340"/>
          <a:ext cx="5375112" cy="520700"/>
        </p:xfrm>
        <a:graphic>
          <a:graphicData uri="http://schemas.openxmlformats.org/drawingml/2006/table">
            <a:tbl>
              <a:tblPr/>
              <a:tblGrid>
                <a:gridCol w="1120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9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25.52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16.73</a:t>
                      </a:r>
                      <a:r>
                        <a:rPr lang="ko-KR" altLang="en-US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8.78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억↓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(11.2%)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prstClr val="black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(8.4%)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(2.8%p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↓</a:t>
                      </a:r>
                      <a:r>
                        <a:rPr lang="en-US" altLang="ko-KR" sz="1000" b="1" kern="1200" dirty="0">
                          <a:solidFill>
                            <a:srgbClr val="FF0000"/>
                          </a:solidFill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solidFill>
                          <a:prstClr val="black"/>
                        </a:solidFill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4912" y="99153"/>
            <a:ext cx="890852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26</a:t>
            </a:r>
            <a:r>
              <a:rPr lang="ko-KR" altLang="en-US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경영실적</a:t>
            </a:r>
            <a:r>
              <a:rPr lang="en-US" altLang="ko-KR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_7</a:t>
            </a:r>
            <a:r>
              <a:rPr lang="ko-KR" altLang="en-US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누적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49342" y="769561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26</a:t>
            </a:r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년</a:t>
            </a:r>
            <a:endParaRPr lang="en-US" altLang="ko-KR" sz="1000" b="1" dirty="0">
              <a:solidFill>
                <a:prstClr val="black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algn="ctr"/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7</a:t>
            </a:r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월 누적 계획</a:t>
            </a:r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endParaRPr lang="ko-KR" altLang="en-US" sz="1000" b="1" dirty="0">
              <a:solidFill>
                <a:prstClr val="black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47045" y="769561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26</a:t>
            </a:r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년</a:t>
            </a:r>
            <a:endParaRPr lang="en-US" altLang="ko-KR" sz="1000" b="1" dirty="0">
              <a:solidFill>
                <a:prstClr val="black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algn="ctr"/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7</a:t>
            </a:r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월 누적 실적</a:t>
            </a:r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endParaRPr lang="ko-KR" altLang="en-US" sz="1000" b="1" dirty="0">
              <a:solidFill>
                <a:prstClr val="black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564374" y="769561"/>
            <a:ext cx="989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25</a:t>
            </a:r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년</a:t>
            </a:r>
            <a:endParaRPr lang="en-US" altLang="ko-KR" sz="1000" b="1" dirty="0">
              <a:solidFill>
                <a:prstClr val="black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algn="ctr"/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7</a:t>
            </a:r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월 누적 실적</a:t>
            </a:r>
          </a:p>
        </p:txBody>
      </p:sp>
      <p:cxnSp>
        <p:nvCxnSpPr>
          <p:cNvPr id="42" name="직선 연결선 41"/>
          <p:cNvCxnSpPr/>
          <p:nvPr/>
        </p:nvCxnSpPr>
        <p:spPr>
          <a:xfrm>
            <a:off x="488381" y="1198730"/>
            <a:ext cx="86410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/>
            <a:tailEnd type="none"/>
          </a:ln>
          <a:effectLst/>
        </p:spPr>
      </p:cxnSp>
      <p:sp>
        <p:nvSpPr>
          <p:cNvPr id="43" name="모서리가 둥근 직사각형 42"/>
          <p:cNvSpPr/>
          <p:nvPr/>
        </p:nvSpPr>
        <p:spPr bwMode="auto">
          <a:xfrm>
            <a:off x="488381" y="1548767"/>
            <a:ext cx="987656" cy="3519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noFill/>
            <a:prstDash val="sysDash"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sz="1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매출</a:t>
            </a:r>
            <a:endParaRPr lang="en-US" altLang="ko-KR" sz="1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 bwMode="auto">
          <a:xfrm>
            <a:off x="488380" y="2155692"/>
            <a:ext cx="993403" cy="3519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noFill/>
            <a:prstDash val="sysDash"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sz="1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재료비</a:t>
            </a:r>
            <a:endParaRPr lang="en-US" altLang="ko-KR" sz="1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82633" y="2762617"/>
            <a:ext cx="993404" cy="3519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noFill/>
            <a:prstDash val="sysDash"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sz="1000" b="1" dirty="0" err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노무비</a:t>
            </a:r>
            <a:endParaRPr lang="en-US" altLang="ko-KR" sz="1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 bwMode="auto">
          <a:xfrm>
            <a:off x="488380" y="3369542"/>
            <a:ext cx="993404" cy="3519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noFill/>
            <a:prstDash val="sysDash"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sz="1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제조경비</a:t>
            </a:r>
            <a:endParaRPr lang="en-US" altLang="ko-KR" sz="1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 bwMode="auto">
          <a:xfrm>
            <a:off x="488380" y="3976467"/>
            <a:ext cx="993404" cy="3519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noFill/>
            <a:prstDash val="sysDash"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sz="1000" b="1" dirty="0" err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판관비</a:t>
            </a:r>
            <a:endParaRPr lang="en-US" altLang="ko-KR" sz="1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 bwMode="auto">
          <a:xfrm>
            <a:off x="476886" y="4583392"/>
            <a:ext cx="993404" cy="3519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noFill/>
            <a:prstDash val="sysDash"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sz="1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영업이익</a:t>
            </a:r>
            <a:endParaRPr lang="en-US" altLang="ko-KR" sz="1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159453" y="769561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전년</a:t>
            </a:r>
            <a:endParaRPr lang="en-US" altLang="ko-KR" sz="1000" b="1" dirty="0">
              <a:solidFill>
                <a:prstClr val="black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algn="ctr"/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대비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42453" y="769561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계획</a:t>
            </a:r>
            <a:endParaRPr lang="en-US" altLang="ko-KR" sz="1000" b="1" dirty="0">
              <a:solidFill>
                <a:prstClr val="black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algn="ctr"/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대비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021" y="838398"/>
            <a:ext cx="393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항목</a:t>
            </a:r>
            <a:endParaRPr lang="en-US" altLang="ko-KR" sz="1000" b="1" dirty="0">
              <a:solidFill>
                <a:prstClr val="black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 bwMode="auto">
          <a:xfrm>
            <a:off x="476886" y="5165295"/>
            <a:ext cx="993404" cy="3519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noFill/>
            <a:prstDash val="sysDash"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세전이익</a:t>
            </a:r>
            <a:endParaRPr lang="en-US" altLang="ko-KR" sz="1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cxnSp>
        <p:nvCxnSpPr>
          <p:cNvPr id="68" name="직선 연결선 67"/>
          <p:cNvCxnSpPr/>
          <p:nvPr/>
        </p:nvCxnSpPr>
        <p:spPr>
          <a:xfrm>
            <a:off x="488380" y="1900704"/>
            <a:ext cx="86410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ot"/>
            <a:round/>
            <a:headEnd type="none"/>
            <a:tailEnd type="none"/>
          </a:ln>
          <a:effectLst/>
        </p:spPr>
      </p:cxnSp>
      <p:cxnSp>
        <p:nvCxnSpPr>
          <p:cNvPr id="49" name="직선 연결선 48"/>
          <p:cNvCxnSpPr/>
          <p:nvPr/>
        </p:nvCxnSpPr>
        <p:spPr>
          <a:xfrm>
            <a:off x="488380" y="2497828"/>
            <a:ext cx="86410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ot"/>
            <a:round/>
            <a:headEnd type="none"/>
            <a:tailEnd type="none"/>
          </a:ln>
          <a:effectLst/>
        </p:spPr>
      </p:cxnSp>
      <p:cxnSp>
        <p:nvCxnSpPr>
          <p:cNvPr id="50" name="직선 연결선 49"/>
          <p:cNvCxnSpPr/>
          <p:nvPr/>
        </p:nvCxnSpPr>
        <p:spPr>
          <a:xfrm>
            <a:off x="482633" y="3114554"/>
            <a:ext cx="86410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ot"/>
            <a:round/>
            <a:headEnd type="none"/>
            <a:tailEnd type="none"/>
          </a:ln>
          <a:effectLst/>
        </p:spPr>
      </p:cxnSp>
      <p:cxnSp>
        <p:nvCxnSpPr>
          <p:cNvPr id="52" name="직선 연결선 51"/>
          <p:cNvCxnSpPr/>
          <p:nvPr/>
        </p:nvCxnSpPr>
        <p:spPr>
          <a:xfrm>
            <a:off x="488380" y="3721479"/>
            <a:ext cx="86410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ot"/>
            <a:round/>
            <a:headEnd type="none"/>
            <a:tailEnd type="none"/>
          </a:ln>
          <a:effectLst/>
        </p:spPr>
      </p:cxnSp>
      <p:cxnSp>
        <p:nvCxnSpPr>
          <p:cNvPr id="54" name="직선 연결선 53"/>
          <p:cNvCxnSpPr/>
          <p:nvPr/>
        </p:nvCxnSpPr>
        <p:spPr>
          <a:xfrm>
            <a:off x="488380" y="4328404"/>
            <a:ext cx="86410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ot"/>
            <a:round/>
            <a:headEnd type="none"/>
            <a:tailEnd type="none"/>
          </a:ln>
          <a:effectLst/>
        </p:spPr>
      </p:cxnSp>
      <p:cxnSp>
        <p:nvCxnSpPr>
          <p:cNvPr id="55" name="직선 연결선 54"/>
          <p:cNvCxnSpPr/>
          <p:nvPr/>
        </p:nvCxnSpPr>
        <p:spPr>
          <a:xfrm>
            <a:off x="497518" y="4935329"/>
            <a:ext cx="86410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ot"/>
            <a:round/>
            <a:headEnd type="none"/>
            <a:tailEnd type="none"/>
          </a:ln>
          <a:effectLst/>
        </p:spPr>
      </p:cxnSp>
      <p:cxnSp>
        <p:nvCxnSpPr>
          <p:cNvPr id="57" name="직선 연결선 56"/>
          <p:cNvCxnSpPr/>
          <p:nvPr/>
        </p:nvCxnSpPr>
        <p:spPr>
          <a:xfrm>
            <a:off x="476886" y="5517232"/>
            <a:ext cx="86410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ot"/>
            <a:round/>
            <a:headEnd type="none"/>
            <a:tailEnd type="none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6897216" y="822908"/>
            <a:ext cx="8098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상세 </a:t>
            </a:r>
            <a:r>
              <a:rPr lang="en-US" altLang="ko-KR" sz="1000" b="1" dirty="0">
                <a:solidFill>
                  <a:prstClr val="black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Review</a:t>
            </a:r>
            <a:endParaRPr lang="ko-KR" altLang="en-US" sz="1000" b="1" dirty="0">
              <a:solidFill>
                <a:prstClr val="black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458E9831-53D4-4A39-0BF0-EAB294FE47A1}"/>
              </a:ext>
            </a:extLst>
          </p:cNvPr>
          <p:cNvSpPr txBox="1"/>
          <p:nvPr/>
        </p:nvSpPr>
        <p:spPr>
          <a:xfrm>
            <a:off x="6775033" y="2987515"/>
            <a:ext cx="2801092" cy="735314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EMS </a:t>
            </a:r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운반비 </a:t>
            </a:r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49</a:t>
            </a:r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 제외</a:t>
            </a:r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(1~3</a:t>
            </a:r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월</a:t>
            </a:r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)</a:t>
            </a:r>
          </a:p>
          <a:p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EVA </a:t>
            </a:r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설비</a:t>
            </a:r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66</a:t>
            </a:r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 감가상각 제외 </a:t>
            </a:r>
            <a:endParaRPr lang="en-US" altLang="ko-KR" sz="800" b="1" dirty="0">
              <a:solidFill>
                <a:srgbClr val="008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-EVA 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압출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호기 펜스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</a:t>
            </a:r>
            <a:r>
              <a:rPr lang="ko-KR" altLang="en-US" sz="800" dirty="0" err="1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흥원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)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49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 제외</a:t>
            </a:r>
            <a:endParaRPr lang="en-US" altLang="ko-KR" sz="800" dirty="0">
              <a:solidFill>
                <a:srgbClr val="008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-EVA 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압출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호기 여과 설비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청운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)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4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 제외</a:t>
            </a:r>
            <a:endParaRPr lang="en-US" altLang="ko-KR" sz="800" dirty="0">
              <a:solidFill>
                <a:srgbClr val="008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-EVA 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압출라인 냉각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roll 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외 연동 설비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유성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)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13</a:t>
            </a:r>
            <a:r>
              <a:rPr lang="ko-KR" altLang="en-US" sz="800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 제외</a:t>
            </a:r>
            <a:endParaRPr lang="en-US" altLang="ko-KR" sz="800" dirty="0">
              <a:solidFill>
                <a:srgbClr val="008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5FE0D-D520-ABF2-E647-EB7BE793BE5B}"/>
              </a:ext>
            </a:extLst>
          </p:cNvPr>
          <p:cNvSpPr txBox="1"/>
          <p:nvPr/>
        </p:nvSpPr>
        <p:spPr>
          <a:xfrm>
            <a:off x="4679970" y="6599720"/>
            <a:ext cx="741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 Regular" pitchFamily="50" charset="-127"/>
                <a:ea typeface="LG스마트체 Regular"/>
              </a:rPr>
              <a:t>9/10</a:t>
            </a:r>
            <a:endParaRPr lang="ko-KR" altLang="en-US" sz="1000" dirty="0">
              <a:solidFill>
                <a:prstClr val="black"/>
              </a:solidFill>
              <a:latin typeface="LG스마트체 Regular" pitchFamily="50" charset="-127"/>
              <a:ea typeface="LG스마트체 Regular"/>
            </a:endParaRPr>
          </a:p>
        </p:txBody>
      </p:sp>
      <p:sp>
        <p:nvSpPr>
          <p:cNvPr id="6" name="TextBox 30">
            <a:extLst>
              <a:ext uri="{FF2B5EF4-FFF2-40B4-BE49-F238E27FC236}">
                <a16:creationId xmlns:a16="http://schemas.microsoft.com/office/drawing/2014/main" id="{08D60BDC-0FEB-EA21-38A2-F5BE3B19704D}"/>
              </a:ext>
            </a:extLst>
          </p:cNvPr>
          <p:cNvSpPr txBox="1"/>
          <p:nvPr/>
        </p:nvSpPr>
        <p:spPr>
          <a:xfrm>
            <a:off x="6799878" y="2081347"/>
            <a:ext cx="1642560" cy="209939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EVA</a:t>
            </a:r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엔지니어 </a:t>
            </a:r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28.7</a:t>
            </a:r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</a:t>
            </a:r>
            <a:endParaRPr lang="en-US" altLang="ko-KR" sz="800" b="1" dirty="0">
              <a:solidFill>
                <a:srgbClr val="008000"/>
              </a:solidFill>
              <a:effectLst/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TextBox 30">
            <a:extLst>
              <a:ext uri="{FF2B5EF4-FFF2-40B4-BE49-F238E27FC236}">
                <a16:creationId xmlns:a16="http://schemas.microsoft.com/office/drawing/2014/main" id="{DA80BB11-F344-0542-1F1A-4AFB18FB1DD7}"/>
              </a:ext>
            </a:extLst>
          </p:cNvPr>
          <p:cNvSpPr txBox="1"/>
          <p:nvPr/>
        </p:nvSpPr>
        <p:spPr>
          <a:xfrm>
            <a:off x="6775033" y="3862958"/>
            <a:ext cx="1745548" cy="367506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EVA </a:t>
            </a:r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지원 </a:t>
            </a:r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19.8</a:t>
            </a:r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</a:t>
            </a:r>
            <a:endParaRPr lang="en-US" altLang="ko-KR" sz="800" b="1" dirty="0">
              <a:solidFill>
                <a:srgbClr val="008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endParaRPr lang="en-US" altLang="ko-KR" sz="800" dirty="0">
              <a:solidFill>
                <a:srgbClr val="008000"/>
              </a:solidFill>
              <a:effectLst/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" name="TextBox 30">
            <a:extLst>
              <a:ext uri="{FF2B5EF4-FFF2-40B4-BE49-F238E27FC236}">
                <a16:creationId xmlns:a16="http://schemas.microsoft.com/office/drawing/2014/main" id="{435B9A15-25DE-C067-4762-2399452302C9}"/>
              </a:ext>
            </a:extLst>
          </p:cNvPr>
          <p:cNvSpPr txBox="1"/>
          <p:nvPr/>
        </p:nvSpPr>
        <p:spPr>
          <a:xfrm>
            <a:off x="6816419" y="5051786"/>
            <a:ext cx="1745548" cy="367506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태국 변상비용 </a:t>
            </a:r>
            <a:r>
              <a:rPr lang="en-US" altLang="ko-KR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78</a:t>
            </a:r>
            <a:r>
              <a:rPr lang="ko-KR" altLang="en-US" sz="800" b="1" dirty="0">
                <a:solidFill>
                  <a:srgbClr val="008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백만</a:t>
            </a:r>
            <a:endParaRPr lang="en-US" altLang="ko-KR" sz="800" b="1" dirty="0">
              <a:solidFill>
                <a:srgbClr val="008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0514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3"/>
          <p:cNvSpPr txBox="1">
            <a:spLocks noChangeArrowheads="1"/>
          </p:cNvSpPr>
          <p:nvPr/>
        </p:nvSpPr>
        <p:spPr bwMode="auto">
          <a:xfrm>
            <a:off x="4912" y="99153"/>
            <a:ext cx="890852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재고금액</a:t>
            </a:r>
            <a:r>
              <a:rPr lang="en-US" altLang="ko-KR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자재</a:t>
            </a:r>
            <a:r>
              <a:rPr lang="en-US" altLang="ko-KR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63ADE8-A2C4-6D86-B0F7-A2E0840673BA}"/>
              </a:ext>
            </a:extLst>
          </p:cNvPr>
          <p:cNvSpPr txBox="1"/>
          <p:nvPr/>
        </p:nvSpPr>
        <p:spPr>
          <a:xfrm>
            <a:off x="8200280" y="620688"/>
            <a:ext cx="955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단위</a:t>
            </a:r>
            <a:r>
              <a:rPr lang="en-US" altLang="ko-KR" sz="800" b="1" dirty="0">
                <a:solidFill>
                  <a:prstClr val="black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: %</a:t>
            </a:r>
            <a:endParaRPr lang="ko-KR" altLang="en-US" sz="800" b="1" dirty="0">
              <a:solidFill>
                <a:prstClr val="black"/>
              </a:solidFill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0B9B5-1D0E-345D-AB8D-6877D590AF66}"/>
              </a:ext>
            </a:extLst>
          </p:cNvPr>
          <p:cNvSpPr txBox="1"/>
          <p:nvPr/>
        </p:nvSpPr>
        <p:spPr>
          <a:xfrm>
            <a:off x="4679970" y="6599720"/>
            <a:ext cx="741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 Regular" pitchFamily="50" charset="-127"/>
                <a:ea typeface="LG스마트체 Regular"/>
              </a:rPr>
              <a:t>10/10</a:t>
            </a:r>
            <a:endParaRPr lang="ko-KR" altLang="en-US" sz="1000" dirty="0">
              <a:solidFill>
                <a:prstClr val="black"/>
              </a:solidFill>
              <a:latin typeface="LG스마트체 Regular" pitchFamily="50" charset="-127"/>
              <a:ea typeface="LG스마트체 Regular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833DD875-297B-CEB9-7EB8-D553EB28D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005241"/>
              </p:ext>
            </p:extLst>
          </p:nvPr>
        </p:nvGraphicFramePr>
        <p:xfrm>
          <a:off x="310424" y="3140969"/>
          <a:ext cx="9429168" cy="3296021"/>
        </p:xfrm>
        <a:graphic>
          <a:graphicData uri="http://schemas.openxmlformats.org/drawingml/2006/table">
            <a:tbl>
              <a:tblPr/>
              <a:tblGrid>
                <a:gridCol w="597068">
                  <a:extLst>
                    <a:ext uri="{9D8B030D-6E8A-4147-A177-3AD203B41FA5}">
                      <a16:colId xmlns:a16="http://schemas.microsoft.com/office/drawing/2014/main" val="1118560150"/>
                    </a:ext>
                  </a:extLst>
                </a:gridCol>
                <a:gridCol w="535108">
                  <a:extLst>
                    <a:ext uri="{9D8B030D-6E8A-4147-A177-3AD203B41FA5}">
                      <a16:colId xmlns:a16="http://schemas.microsoft.com/office/drawing/2014/main" val="3671313834"/>
                    </a:ext>
                  </a:extLst>
                </a:gridCol>
                <a:gridCol w="535108">
                  <a:extLst>
                    <a:ext uri="{9D8B030D-6E8A-4147-A177-3AD203B41FA5}">
                      <a16:colId xmlns:a16="http://schemas.microsoft.com/office/drawing/2014/main" val="2424524702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1383685801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2274601101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3726756512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2777167568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2998011041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2082921047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843898321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655306555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213132297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2711206634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3855109939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1872297142"/>
                    </a:ext>
                  </a:extLst>
                </a:gridCol>
                <a:gridCol w="597068">
                  <a:extLst>
                    <a:ext uri="{9D8B030D-6E8A-4147-A177-3AD203B41FA5}">
                      <a16:colId xmlns:a16="http://schemas.microsoft.com/office/drawing/2014/main" val="3900440011"/>
                    </a:ext>
                  </a:extLst>
                </a:gridCol>
              </a:tblGrid>
              <a:tr h="301834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marL="6227" marR="6227" marT="6227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합계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73278"/>
                  </a:ext>
                </a:extLst>
              </a:tr>
              <a:tr h="482933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26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스마트체 Regular" panose="020B0600000101010101"/>
                        </a:rPr>
                        <a:t>년</a:t>
                      </a:r>
                    </a:p>
                  </a:txBody>
                  <a:tcPr marL="6227" marR="6227" marT="6227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제품 매출금액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3,407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2,842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3,188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2,570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2,329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2,518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2,996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19,850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802078"/>
                  </a:ext>
                </a:extLst>
              </a:tr>
              <a:tr h="4829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제품재고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이월포함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410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354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425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506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449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489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402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3,035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110774"/>
                  </a:ext>
                </a:extLst>
              </a:tr>
              <a:tr h="4829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비율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12.0%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12.5%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13.3%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19.7%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19.3%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19.4%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13.4%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15.3%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513603"/>
                  </a:ext>
                </a:extLst>
              </a:tr>
              <a:tr h="4829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생산금액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3,284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2,823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3,308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2,707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2,292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2,572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2,922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19,908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565506"/>
                  </a:ext>
                </a:extLst>
              </a:tr>
              <a:tr h="5795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자재재고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금액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372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498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464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528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585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586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605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3,638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967654"/>
                  </a:ext>
                </a:extLst>
              </a:tr>
              <a:tr h="4829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mpd="sng">
                      <a:noFill/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LG Smart UI Regular" panose="020B0500000101010101" pitchFamily="50" charset="-127"/>
                        <a:ea typeface="LG스마트체 Regular" panose="020B0600000101010101"/>
                      </a:endParaRPr>
                    </a:p>
                  </a:txBody>
                  <a:tcPr marL="6227" marR="6227" marT="6227" marB="0" anchor="ctr"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비율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11.3%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17.6%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14.0%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19.5%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25.5%</a:t>
                      </a:r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22.8%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  <a:cs typeface="+mn-cs"/>
                        </a:rPr>
                        <a:t>20.7%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  <a:cs typeface="+mn-cs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effectLst/>
                        <a:highlight>
                          <a:srgbClr val="F2F2F2"/>
                        </a:highlight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18.3%</a:t>
                      </a:r>
                    </a:p>
                  </a:txBody>
                  <a:tcPr marL="6227" marR="6227" marT="6227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1083"/>
                  </a:ext>
                </a:extLst>
              </a:tr>
            </a:tbl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8CCB611B-08A2-4FD3-AE3A-B168E923D1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1015047"/>
              </p:ext>
            </p:extLst>
          </p:nvPr>
        </p:nvGraphicFramePr>
        <p:xfrm>
          <a:off x="838043" y="548005"/>
          <a:ext cx="8424936" cy="2880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692281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83622</TotalTime>
  <Words>3864</Words>
  <Application>Microsoft Office PowerPoint</Application>
  <PresentationFormat>A4 용지(210x297mm)</PresentationFormat>
  <Paragraphs>2129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HY견고딕</vt:lpstr>
      <vt:lpstr>LG Smart UI Light</vt:lpstr>
      <vt:lpstr>LG Smart UI Regular</vt:lpstr>
      <vt:lpstr>LG스마트체 Regular</vt:lpstr>
      <vt:lpstr>맑은 고딕</vt:lpstr>
      <vt:lpstr>Arial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user</cp:lastModifiedBy>
  <cp:revision>5489</cp:revision>
  <cp:lastPrinted>2026-03-13T06:10:30Z</cp:lastPrinted>
  <dcterms:created xsi:type="dcterms:W3CDTF">2018-01-02T04:57:49Z</dcterms:created>
  <dcterms:modified xsi:type="dcterms:W3CDTF">2026-08-14T00:34:20Z</dcterms:modified>
</cp:coreProperties>
</file>